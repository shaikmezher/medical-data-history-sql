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41"/>
  </p:notesMasterIdLst>
  <p:handoutMasterIdLst>
    <p:handoutMasterId r:id="rId42"/>
  </p:handoutMasterIdLst>
  <p:sldIdLst>
    <p:sldId id="257" r:id="rId5"/>
    <p:sldId id="258" r:id="rId6"/>
    <p:sldId id="262" r:id="rId7"/>
    <p:sldId id="261" r:id="rId8"/>
    <p:sldId id="263" r:id="rId9"/>
    <p:sldId id="278" r:id="rId10"/>
    <p:sldId id="277" r:id="rId11"/>
    <p:sldId id="276" r:id="rId12"/>
    <p:sldId id="281" r:id="rId13"/>
    <p:sldId id="283" r:id="rId14"/>
    <p:sldId id="282" r:id="rId15"/>
    <p:sldId id="280" r:id="rId16"/>
    <p:sldId id="279" r:id="rId17"/>
    <p:sldId id="292" r:id="rId18"/>
    <p:sldId id="290" r:id="rId19"/>
    <p:sldId id="291" r:id="rId20"/>
    <p:sldId id="289" r:id="rId21"/>
    <p:sldId id="284" r:id="rId22"/>
    <p:sldId id="285" r:id="rId23"/>
    <p:sldId id="288" r:id="rId24"/>
    <p:sldId id="287" r:id="rId25"/>
    <p:sldId id="286" r:id="rId26"/>
    <p:sldId id="293" r:id="rId27"/>
    <p:sldId id="294" r:id="rId28"/>
    <p:sldId id="296" r:id="rId29"/>
    <p:sldId id="297" r:id="rId30"/>
    <p:sldId id="298" r:id="rId31"/>
    <p:sldId id="295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DA082E5-705D-4A3A-ADB6-B2F8833A0F3C}">
          <p14:sldIdLst>
            <p14:sldId id="257"/>
            <p14:sldId id="258"/>
            <p14:sldId id="262"/>
            <p14:sldId id="261"/>
            <p14:sldId id="263"/>
            <p14:sldId id="278"/>
            <p14:sldId id="277"/>
            <p14:sldId id="276"/>
            <p14:sldId id="281"/>
            <p14:sldId id="283"/>
            <p14:sldId id="282"/>
            <p14:sldId id="280"/>
            <p14:sldId id="279"/>
            <p14:sldId id="292"/>
            <p14:sldId id="290"/>
            <p14:sldId id="291"/>
            <p14:sldId id="289"/>
            <p14:sldId id="284"/>
            <p14:sldId id="285"/>
            <p14:sldId id="288"/>
            <p14:sldId id="287"/>
            <p14:sldId id="286"/>
            <p14:sldId id="293"/>
            <p14:sldId id="294"/>
            <p14:sldId id="296"/>
            <p14:sldId id="297"/>
            <p14:sldId id="298"/>
            <p14:sldId id="295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40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560B6B-963E-45AD-B18D-9DA3469D83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61BEE-A6B4-49DE-8859-2A55F155C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30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8D2A0D-6B45-4215-8A49-D14849101A6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6A182-AF03-4CC8-94DC-C0726DF5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640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E6A182-AF03-4CC8-94DC-C0726DF52A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5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E626-6EB7-4D9A-AD4A-B54D1684CAD1}" type="datetime1">
              <a:rPr lang="en-US" smtClean="0"/>
              <a:t>1/5/2026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62707" y="2320335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707" y="288339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 algn="l">
              <a:defRPr sz="4800" b="1" cap="all" baseline="0">
                <a:ln w="6350">
                  <a:noFill/>
                </a:ln>
                <a:solidFill>
                  <a:schemeClr val="accent2"/>
                </a:soli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86028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24A36-10EA-4DE5-9251-C62AA44714D2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20158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5A85-13CC-45EA-B1A6-5B8E77AB646B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ubtitle 8"/>
          <p:cNvSpPr>
            <a:spLocks noGrp="1"/>
          </p:cNvSpPr>
          <p:nvPr>
            <p:ph type="subTitle" idx="1"/>
          </p:nvPr>
        </p:nvSpPr>
        <p:spPr>
          <a:xfrm>
            <a:off x="562707" y="2320335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Title 7"/>
          <p:cNvSpPr>
            <a:spLocks noGrp="1"/>
          </p:cNvSpPr>
          <p:nvPr>
            <p:ph type="ctrTitle"/>
          </p:nvPr>
        </p:nvSpPr>
        <p:spPr>
          <a:xfrm>
            <a:off x="562707" y="288339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 algn="l"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22633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1815-F531-4787-BA2A-626422C133AD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838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4885B-3C5C-43BB-9862-47948E5DF551}" type="datetime1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184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B6AF-AB61-4D8E-B7B7-705C5ACEBBCC}" type="datetime1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320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3EC9A-B094-4092-8061-75D86CB34931}" type="datetime1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6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1AEED-2323-4359-853E-316DF6600362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1">
                <a:ln w="6350"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7750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C2DF-F1FD-4724-A563-92BADFC82ECC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>
              <a:lumMod val="20000"/>
              <a:lumOff val="80000"/>
            </a:schemeClr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indent="0" algn="l" rtl="0" eaLnBrk="1" latinLnBrk="0" hangingPunct="1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4466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32EDF-E99E-4C68-AFCB-7A835B309D6D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20336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2D85F-A551-4C69-800A-8CFFA2306A88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351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D20E2CF-D74B-4B51-899A-DCEA821C90C7}" type="datetime1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grpSp>
        <p:nvGrpSpPr>
          <p:cNvPr id="24" name="Group 18"/>
          <p:cNvGrpSpPr>
            <a:grpSpLocks/>
          </p:cNvGrpSpPr>
          <p:nvPr/>
        </p:nvGrpSpPr>
        <p:grpSpPr bwMode="auto">
          <a:xfrm>
            <a:off x="4263969" y="1960564"/>
            <a:ext cx="3762431" cy="4821237"/>
            <a:chOff x="1365" y="355"/>
            <a:chExt cx="3024" cy="3875"/>
          </a:xfrm>
          <a:solidFill>
            <a:schemeClr val="bg2">
              <a:lumMod val="50000"/>
              <a:alpha val="20000"/>
            </a:schemeClr>
          </a:solidFill>
        </p:grpSpPr>
        <p:sp>
          <p:nvSpPr>
            <p:cNvPr id="25" name="Freeform 2"/>
            <p:cNvSpPr>
              <a:spLocks/>
            </p:cNvSpPr>
            <p:nvPr/>
          </p:nvSpPr>
          <p:spPr bwMode="auto">
            <a:xfrm>
              <a:off x="2835" y="586"/>
              <a:ext cx="88" cy="1121"/>
            </a:xfrm>
            <a:custGeom>
              <a:avLst/>
              <a:gdLst>
                <a:gd name="T0" fmla="*/ 0 w 88"/>
                <a:gd name="T1" fmla="*/ 1120 h 1121"/>
                <a:gd name="T2" fmla="*/ 0 w 88"/>
                <a:gd name="T3" fmla="*/ 0 h 1121"/>
                <a:gd name="T4" fmla="*/ 87 w 88"/>
                <a:gd name="T5" fmla="*/ 0 h 1121"/>
                <a:gd name="T6" fmla="*/ 87 w 88"/>
                <a:gd name="T7" fmla="*/ 1085 h 1121"/>
                <a:gd name="T8" fmla="*/ 0 w 88"/>
                <a:gd name="T9" fmla="*/ 1120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1121">
                  <a:moveTo>
                    <a:pt x="0" y="1120"/>
                  </a:moveTo>
                  <a:lnTo>
                    <a:pt x="0" y="0"/>
                  </a:lnTo>
                  <a:lnTo>
                    <a:pt x="87" y="0"/>
                  </a:lnTo>
                  <a:lnTo>
                    <a:pt x="87" y="1085"/>
                  </a:lnTo>
                  <a:lnTo>
                    <a:pt x="0" y="112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"/>
            <p:cNvSpPr>
              <a:spLocks/>
            </p:cNvSpPr>
            <p:nvPr/>
          </p:nvSpPr>
          <p:spPr bwMode="auto">
            <a:xfrm>
              <a:off x="2834" y="1900"/>
              <a:ext cx="84" cy="363"/>
            </a:xfrm>
            <a:custGeom>
              <a:avLst/>
              <a:gdLst>
                <a:gd name="T0" fmla="*/ 0 w 84"/>
                <a:gd name="T1" fmla="*/ 29 h 363"/>
                <a:gd name="T2" fmla="*/ 83 w 84"/>
                <a:gd name="T3" fmla="*/ 0 h 363"/>
                <a:gd name="T4" fmla="*/ 74 w 84"/>
                <a:gd name="T5" fmla="*/ 329 h 363"/>
                <a:gd name="T6" fmla="*/ 0 w 84"/>
                <a:gd name="T7" fmla="*/ 362 h 363"/>
                <a:gd name="T8" fmla="*/ 0 w 84"/>
                <a:gd name="T9" fmla="*/ 2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363">
                  <a:moveTo>
                    <a:pt x="0" y="29"/>
                  </a:moveTo>
                  <a:lnTo>
                    <a:pt x="83" y="0"/>
                  </a:lnTo>
                  <a:lnTo>
                    <a:pt x="74" y="329"/>
                  </a:lnTo>
                  <a:lnTo>
                    <a:pt x="0" y="362"/>
                  </a:lnTo>
                  <a:lnTo>
                    <a:pt x="0" y="2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4"/>
            <p:cNvSpPr>
              <a:spLocks/>
            </p:cNvSpPr>
            <p:nvPr/>
          </p:nvSpPr>
          <p:spPr bwMode="auto">
            <a:xfrm>
              <a:off x="2825" y="2493"/>
              <a:ext cx="84" cy="249"/>
            </a:xfrm>
            <a:custGeom>
              <a:avLst/>
              <a:gdLst>
                <a:gd name="T0" fmla="*/ 2 w 84"/>
                <a:gd name="T1" fmla="*/ 213 h 249"/>
                <a:gd name="T2" fmla="*/ 0 w 84"/>
                <a:gd name="T3" fmla="*/ 28 h 249"/>
                <a:gd name="T4" fmla="*/ 83 w 84"/>
                <a:gd name="T5" fmla="*/ 0 h 249"/>
                <a:gd name="T6" fmla="*/ 72 w 84"/>
                <a:gd name="T7" fmla="*/ 248 h 249"/>
                <a:gd name="T8" fmla="*/ 2 w 84"/>
                <a:gd name="T9" fmla="*/ 21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49">
                  <a:moveTo>
                    <a:pt x="2" y="213"/>
                  </a:moveTo>
                  <a:lnTo>
                    <a:pt x="0" y="28"/>
                  </a:lnTo>
                  <a:lnTo>
                    <a:pt x="83" y="0"/>
                  </a:lnTo>
                  <a:lnTo>
                    <a:pt x="72" y="248"/>
                  </a:lnTo>
                  <a:lnTo>
                    <a:pt x="2" y="213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>
              <a:off x="2831" y="2965"/>
              <a:ext cx="52" cy="232"/>
            </a:xfrm>
            <a:custGeom>
              <a:avLst/>
              <a:gdLst>
                <a:gd name="T0" fmla="*/ 13 w 52"/>
                <a:gd name="T1" fmla="*/ 204 h 232"/>
                <a:gd name="T2" fmla="*/ 0 w 52"/>
                <a:gd name="T3" fmla="*/ 0 h 232"/>
                <a:gd name="T4" fmla="*/ 51 w 52"/>
                <a:gd name="T5" fmla="*/ 26 h 232"/>
                <a:gd name="T6" fmla="*/ 47 w 52"/>
                <a:gd name="T7" fmla="*/ 231 h 232"/>
                <a:gd name="T8" fmla="*/ 13 w 52"/>
                <a:gd name="T9" fmla="*/ 204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232">
                  <a:moveTo>
                    <a:pt x="13" y="204"/>
                  </a:moveTo>
                  <a:lnTo>
                    <a:pt x="0" y="0"/>
                  </a:lnTo>
                  <a:lnTo>
                    <a:pt x="51" y="26"/>
                  </a:lnTo>
                  <a:lnTo>
                    <a:pt x="47" y="231"/>
                  </a:lnTo>
                  <a:lnTo>
                    <a:pt x="13" y="20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6"/>
            <p:cNvSpPr>
              <a:spLocks/>
            </p:cNvSpPr>
            <p:nvPr/>
          </p:nvSpPr>
          <p:spPr bwMode="auto">
            <a:xfrm>
              <a:off x="2851" y="3354"/>
              <a:ext cx="36" cy="133"/>
            </a:xfrm>
            <a:custGeom>
              <a:avLst/>
              <a:gdLst>
                <a:gd name="T0" fmla="*/ 4 w 36"/>
                <a:gd name="T1" fmla="*/ 101 h 133"/>
                <a:gd name="T2" fmla="*/ 0 w 36"/>
                <a:gd name="T3" fmla="*/ 0 h 133"/>
                <a:gd name="T4" fmla="*/ 35 w 36"/>
                <a:gd name="T5" fmla="*/ 20 h 133"/>
                <a:gd name="T6" fmla="*/ 28 w 36"/>
                <a:gd name="T7" fmla="*/ 132 h 133"/>
                <a:gd name="T8" fmla="*/ 4 w 36"/>
                <a:gd name="T9" fmla="*/ 10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33">
                  <a:moveTo>
                    <a:pt x="4" y="101"/>
                  </a:moveTo>
                  <a:lnTo>
                    <a:pt x="0" y="0"/>
                  </a:lnTo>
                  <a:lnTo>
                    <a:pt x="35" y="20"/>
                  </a:lnTo>
                  <a:lnTo>
                    <a:pt x="28" y="132"/>
                  </a:lnTo>
                  <a:lnTo>
                    <a:pt x="4" y="10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7"/>
            <p:cNvSpPr>
              <a:spLocks/>
            </p:cNvSpPr>
            <p:nvPr/>
          </p:nvSpPr>
          <p:spPr bwMode="auto">
            <a:xfrm>
              <a:off x="2851" y="3640"/>
              <a:ext cx="30" cy="590"/>
            </a:xfrm>
            <a:custGeom>
              <a:avLst/>
              <a:gdLst>
                <a:gd name="T0" fmla="*/ 15 w 30"/>
                <a:gd name="T1" fmla="*/ 589 h 590"/>
                <a:gd name="T2" fmla="*/ 0 w 30"/>
                <a:gd name="T3" fmla="*/ 0 h 590"/>
                <a:gd name="T4" fmla="*/ 29 w 30"/>
                <a:gd name="T5" fmla="*/ 37 h 590"/>
                <a:gd name="T6" fmla="*/ 15 w 30"/>
                <a:gd name="T7" fmla="*/ 589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590">
                  <a:moveTo>
                    <a:pt x="15" y="589"/>
                  </a:moveTo>
                  <a:lnTo>
                    <a:pt x="0" y="0"/>
                  </a:lnTo>
                  <a:lnTo>
                    <a:pt x="29" y="37"/>
                  </a:lnTo>
                  <a:lnTo>
                    <a:pt x="15" y="58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8"/>
            <p:cNvSpPr>
              <a:spLocks/>
            </p:cNvSpPr>
            <p:nvPr/>
          </p:nvSpPr>
          <p:spPr bwMode="auto">
            <a:xfrm>
              <a:off x="2600" y="3595"/>
              <a:ext cx="233" cy="130"/>
            </a:xfrm>
            <a:custGeom>
              <a:avLst/>
              <a:gdLst>
                <a:gd name="T0" fmla="*/ 0 w 233"/>
                <a:gd name="T1" fmla="*/ 117 h 130"/>
                <a:gd name="T2" fmla="*/ 48 w 233"/>
                <a:gd name="T3" fmla="*/ 101 h 130"/>
                <a:gd name="T4" fmla="*/ 93 w 233"/>
                <a:gd name="T5" fmla="*/ 79 h 130"/>
                <a:gd name="T6" fmla="*/ 146 w 233"/>
                <a:gd name="T7" fmla="*/ 39 h 130"/>
                <a:gd name="T8" fmla="*/ 182 w 233"/>
                <a:gd name="T9" fmla="*/ 0 h 130"/>
                <a:gd name="T10" fmla="*/ 232 w 233"/>
                <a:gd name="T11" fmla="*/ 42 h 130"/>
                <a:gd name="T12" fmla="*/ 188 w 233"/>
                <a:gd name="T13" fmla="*/ 74 h 130"/>
                <a:gd name="T14" fmla="*/ 134 w 233"/>
                <a:gd name="T15" fmla="*/ 110 h 130"/>
                <a:gd name="T16" fmla="*/ 61 w 233"/>
                <a:gd name="T17" fmla="*/ 129 h 130"/>
                <a:gd name="T18" fmla="*/ 0 w 233"/>
                <a:gd name="T19" fmla="*/ 117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30">
                  <a:moveTo>
                    <a:pt x="0" y="117"/>
                  </a:moveTo>
                  <a:lnTo>
                    <a:pt x="48" y="101"/>
                  </a:lnTo>
                  <a:lnTo>
                    <a:pt x="93" y="79"/>
                  </a:lnTo>
                  <a:lnTo>
                    <a:pt x="146" y="39"/>
                  </a:lnTo>
                  <a:lnTo>
                    <a:pt x="182" y="0"/>
                  </a:lnTo>
                  <a:lnTo>
                    <a:pt x="232" y="42"/>
                  </a:lnTo>
                  <a:lnTo>
                    <a:pt x="188" y="74"/>
                  </a:lnTo>
                  <a:lnTo>
                    <a:pt x="134" y="110"/>
                  </a:lnTo>
                  <a:lnTo>
                    <a:pt x="61" y="129"/>
                  </a:lnTo>
                  <a:lnTo>
                    <a:pt x="0" y="11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9"/>
            <p:cNvSpPr>
              <a:spLocks/>
            </p:cNvSpPr>
            <p:nvPr/>
          </p:nvSpPr>
          <p:spPr bwMode="auto">
            <a:xfrm>
              <a:off x="2583" y="2888"/>
              <a:ext cx="465" cy="646"/>
            </a:xfrm>
            <a:custGeom>
              <a:avLst/>
              <a:gdLst>
                <a:gd name="T0" fmla="*/ 359 w 465"/>
                <a:gd name="T1" fmla="*/ 645 h 646"/>
                <a:gd name="T2" fmla="*/ 405 w 465"/>
                <a:gd name="T3" fmla="*/ 616 h 646"/>
                <a:gd name="T4" fmla="*/ 447 w 465"/>
                <a:gd name="T5" fmla="*/ 580 h 646"/>
                <a:gd name="T6" fmla="*/ 460 w 465"/>
                <a:gd name="T7" fmla="*/ 552 h 646"/>
                <a:gd name="T8" fmla="*/ 464 w 465"/>
                <a:gd name="T9" fmla="*/ 515 h 646"/>
                <a:gd name="T10" fmla="*/ 451 w 465"/>
                <a:gd name="T11" fmla="*/ 468 h 646"/>
                <a:gd name="T12" fmla="*/ 424 w 465"/>
                <a:gd name="T13" fmla="*/ 424 h 646"/>
                <a:gd name="T14" fmla="*/ 380 w 465"/>
                <a:gd name="T15" fmla="*/ 385 h 646"/>
                <a:gd name="T16" fmla="*/ 168 w 465"/>
                <a:gd name="T17" fmla="*/ 259 h 646"/>
                <a:gd name="T18" fmla="*/ 133 w 465"/>
                <a:gd name="T19" fmla="*/ 235 h 646"/>
                <a:gd name="T20" fmla="*/ 111 w 465"/>
                <a:gd name="T21" fmla="*/ 208 h 646"/>
                <a:gd name="T22" fmla="*/ 104 w 465"/>
                <a:gd name="T23" fmla="*/ 166 h 646"/>
                <a:gd name="T24" fmla="*/ 117 w 465"/>
                <a:gd name="T25" fmla="*/ 124 h 646"/>
                <a:gd name="T26" fmla="*/ 155 w 465"/>
                <a:gd name="T27" fmla="*/ 95 h 646"/>
                <a:gd name="T28" fmla="*/ 222 w 465"/>
                <a:gd name="T29" fmla="*/ 52 h 646"/>
                <a:gd name="T30" fmla="*/ 124 w 465"/>
                <a:gd name="T31" fmla="*/ 0 h 646"/>
                <a:gd name="T32" fmla="*/ 55 w 465"/>
                <a:gd name="T33" fmla="*/ 41 h 646"/>
                <a:gd name="T34" fmla="*/ 27 w 465"/>
                <a:gd name="T35" fmla="*/ 70 h 646"/>
                <a:gd name="T36" fmla="*/ 2 w 465"/>
                <a:gd name="T37" fmla="*/ 123 h 646"/>
                <a:gd name="T38" fmla="*/ 0 w 465"/>
                <a:gd name="T39" fmla="*/ 189 h 646"/>
                <a:gd name="T40" fmla="*/ 29 w 465"/>
                <a:gd name="T41" fmla="*/ 257 h 646"/>
                <a:gd name="T42" fmla="*/ 78 w 465"/>
                <a:gd name="T43" fmla="*/ 300 h 646"/>
                <a:gd name="T44" fmla="*/ 311 w 465"/>
                <a:gd name="T45" fmla="*/ 442 h 646"/>
                <a:gd name="T46" fmla="*/ 358 w 465"/>
                <a:gd name="T47" fmla="*/ 474 h 646"/>
                <a:gd name="T48" fmla="*/ 375 w 465"/>
                <a:gd name="T49" fmla="*/ 516 h 646"/>
                <a:gd name="T50" fmla="*/ 375 w 465"/>
                <a:gd name="T51" fmla="*/ 550 h 646"/>
                <a:gd name="T52" fmla="*/ 308 w 465"/>
                <a:gd name="T53" fmla="*/ 608 h 646"/>
                <a:gd name="T54" fmla="*/ 359 w 465"/>
                <a:gd name="T55" fmla="*/ 645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5" h="646">
                  <a:moveTo>
                    <a:pt x="359" y="645"/>
                  </a:moveTo>
                  <a:lnTo>
                    <a:pt x="405" y="616"/>
                  </a:lnTo>
                  <a:lnTo>
                    <a:pt x="447" y="580"/>
                  </a:lnTo>
                  <a:lnTo>
                    <a:pt x="460" y="552"/>
                  </a:lnTo>
                  <a:lnTo>
                    <a:pt x="464" y="515"/>
                  </a:lnTo>
                  <a:lnTo>
                    <a:pt x="451" y="468"/>
                  </a:lnTo>
                  <a:lnTo>
                    <a:pt x="424" y="424"/>
                  </a:lnTo>
                  <a:lnTo>
                    <a:pt x="380" y="385"/>
                  </a:lnTo>
                  <a:lnTo>
                    <a:pt x="168" y="259"/>
                  </a:lnTo>
                  <a:lnTo>
                    <a:pt x="133" y="235"/>
                  </a:lnTo>
                  <a:lnTo>
                    <a:pt x="111" y="208"/>
                  </a:lnTo>
                  <a:lnTo>
                    <a:pt x="104" y="166"/>
                  </a:lnTo>
                  <a:lnTo>
                    <a:pt x="117" y="124"/>
                  </a:lnTo>
                  <a:lnTo>
                    <a:pt x="155" y="95"/>
                  </a:lnTo>
                  <a:lnTo>
                    <a:pt x="222" y="52"/>
                  </a:lnTo>
                  <a:lnTo>
                    <a:pt x="124" y="0"/>
                  </a:lnTo>
                  <a:lnTo>
                    <a:pt x="55" y="41"/>
                  </a:lnTo>
                  <a:lnTo>
                    <a:pt x="27" y="70"/>
                  </a:lnTo>
                  <a:lnTo>
                    <a:pt x="2" y="123"/>
                  </a:lnTo>
                  <a:lnTo>
                    <a:pt x="0" y="189"/>
                  </a:lnTo>
                  <a:lnTo>
                    <a:pt x="29" y="257"/>
                  </a:lnTo>
                  <a:lnTo>
                    <a:pt x="78" y="300"/>
                  </a:lnTo>
                  <a:lnTo>
                    <a:pt x="311" y="442"/>
                  </a:lnTo>
                  <a:lnTo>
                    <a:pt x="358" y="474"/>
                  </a:lnTo>
                  <a:lnTo>
                    <a:pt x="375" y="516"/>
                  </a:lnTo>
                  <a:lnTo>
                    <a:pt x="375" y="550"/>
                  </a:lnTo>
                  <a:lnTo>
                    <a:pt x="308" y="608"/>
                  </a:lnTo>
                  <a:lnTo>
                    <a:pt x="359" y="64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0"/>
            <p:cNvSpPr>
              <a:spLocks/>
            </p:cNvSpPr>
            <p:nvPr/>
          </p:nvSpPr>
          <p:spPr bwMode="auto">
            <a:xfrm>
              <a:off x="2966" y="2396"/>
              <a:ext cx="318" cy="422"/>
            </a:xfrm>
            <a:custGeom>
              <a:avLst/>
              <a:gdLst>
                <a:gd name="T0" fmla="*/ 92 w 318"/>
                <a:gd name="T1" fmla="*/ 421 h 422"/>
                <a:gd name="T2" fmla="*/ 163 w 318"/>
                <a:gd name="T3" fmla="*/ 399 h 422"/>
                <a:gd name="T4" fmla="*/ 218 w 318"/>
                <a:gd name="T5" fmla="*/ 357 h 422"/>
                <a:gd name="T6" fmla="*/ 263 w 318"/>
                <a:gd name="T7" fmla="*/ 316 h 422"/>
                <a:gd name="T8" fmla="*/ 300 w 318"/>
                <a:gd name="T9" fmla="*/ 265 h 422"/>
                <a:gd name="T10" fmla="*/ 317 w 318"/>
                <a:gd name="T11" fmla="*/ 203 h 422"/>
                <a:gd name="T12" fmla="*/ 316 w 318"/>
                <a:gd name="T13" fmla="*/ 139 h 422"/>
                <a:gd name="T14" fmla="*/ 299 w 318"/>
                <a:gd name="T15" fmla="*/ 95 h 422"/>
                <a:gd name="T16" fmla="*/ 276 w 318"/>
                <a:gd name="T17" fmla="*/ 64 h 422"/>
                <a:gd name="T18" fmla="*/ 241 w 318"/>
                <a:gd name="T19" fmla="*/ 36 h 422"/>
                <a:gd name="T20" fmla="*/ 218 w 318"/>
                <a:gd name="T21" fmla="*/ 14 h 422"/>
                <a:gd name="T22" fmla="*/ 180 w 318"/>
                <a:gd name="T23" fmla="*/ 0 h 422"/>
                <a:gd name="T24" fmla="*/ 61 w 318"/>
                <a:gd name="T25" fmla="*/ 52 h 422"/>
                <a:gd name="T26" fmla="*/ 106 w 318"/>
                <a:gd name="T27" fmla="*/ 93 h 422"/>
                <a:gd name="T28" fmla="*/ 137 w 318"/>
                <a:gd name="T29" fmla="*/ 130 h 422"/>
                <a:gd name="T30" fmla="*/ 159 w 318"/>
                <a:gd name="T31" fmla="*/ 159 h 422"/>
                <a:gd name="T32" fmla="*/ 176 w 318"/>
                <a:gd name="T33" fmla="*/ 196 h 422"/>
                <a:gd name="T34" fmla="*/ 176 w 318"/>
                <a:gd name="T35" fmla="*/ 246 h 422"/>
                <a:gd name="T36" fmla="*/ 145 w 318"/>
                <a:gd name="T37" fmla="*/ 279 h 422"/>
                <a:gd name="T38" fmla="*/ 105 w 318"/>
                <a:gd name="T39" fmla="*/ 309 h 422"/>
                <a:gd name="T40" fmla="*/ 50 w 318"/>
                <a:gd name="T41" fmla="*/ 342 h 422"/>
                <a:gd name="T42" fmla="*/ 0 w 318"/>
                <a:gd name="T43" fmla="*/ 369 h 422"/>
                <a:gd name="T44" fmla="*/ 92 w 318"/>
                <a:gd name="T45" fmla="*/ 421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8" h="422">
                  <a:moveTo>
                    <a:pt x="92" y="421"/>
                  </a:moveTo>
                  <a:lnTo>
                    <a:pt x="163" y="399"/>
                  </a:lnTo>
                  <a:lnTo>
                    <a:pt x="218" y="357"/>
                  </a:lnTo>
                  <a:lnTo>
                    <a:pt x="263" y="316"/>
                  </a:lnTo>
                  <a:lnTo>
                    <a:pt x="300" y="265"/>
                  </a:lnTo>
                  <a:lnTo>
                    <a:pt x="317" y="203"/>
                  </a:lnTo>
                  <a:lnTo>
                    <a:pt x="316" y="139"/>
                  </a:lnTo>
                  <a:lnTo>
                    <a:pt x="299" y="95"/>
                  </a:lnTo>
                  <a:lnTo>
                    <a:pt x="276" y="64"/>
                  </a:lnTo>
                  <a:lnTo>
                    <a:pt x="241" y="36"/>
                  </a:lnTo>
                  <a:lnTo>
                    <a:pt x="218" y="14"/>
                  </a:lnTo>
                  <a:lnTo>
                    <a:pt x="180" y="0"/>
                  </a:lnTo>
                  <a:lnTo>
                    <a:pt x="61" y="52"/>
                  </a:lnTo>
                  <a:lnTo>
                    <a:pt x="106" y="93"/>
                  </a:lnTo>
                  <a:lnTo>
                    <a:pt x="137" y="130"/>
                  </a:lnTo>
                  <a:lnTo>
                    <a:pt x="159" y="159"/>
                  </a:lnTo>
                  <a:lnTo>
                    <a:pt x="176" y="196"/>
                  </a:lnTo>
                  <a:lnTo>
                    <a:pt x="176" y="246"/>
                  </a:lnTo>
                  <a:lnTo>
                    <a:pt x="145" y="279"/>
                  </a:lnTo>
                  <a:lnTo>
                    <a:pt x="105" y="309"/>
                  </a:lnTo>
                  <a:lnTo>
                    <a:pt x="50" y="342"/>
                  </a:lnTo>
                  <a:lnTo>
                    <a:pt x="0" y="369"/>
                  </a:lnTo>
                  <a:lnTo>
                    <a:pt x="92" y="42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1"/>
            <p:cNvSpPr>
              <a:spLocks/>
            </p:cNvSpPr>
            <p:nvPr/>
          </p:nvSpPr>
          <p:spPr bwMode="auto">
            <a:xfrm>
              <a:off x="2308" y="1190"/>
              <a:ext cx="1404" cy="1153"/>
            </a:xfrm>
            <a:custGeom>
              <a:avLst/>
              <a:gdLst>
                <a:gd name="T0" fmla="*/ 466 w 1404"/>
                <a:gd name="T1" fmla="*/ 1084 h 1153"/>
                <a:gd name="T2" fmla="*/ 370 w 1404"/>
                <a:gd name="T3" fmla="*/ 1066 h 1153"/>
                <a:gd name="T4" fmla="*/ 299 w 1404"/>
                <a:gd name="T5" fmla="*/ 1035 h 1153"/>
                <a:gd name="T6" fmla="*/ 257 w 1404"/>
                <a:gd name="T7" fmla="*/ 1002 h 1153"/>
                <a:gd name="T8" fmla="*/ 220 w 1404"/>
                <a:gd name="T9" fmla="*/ 956 h 1153"/>
                <a:gd name="T10" fmla="*/ 209 w 1404"/>
                <a:gd name="T11" fmla="*/ 914 h 1153"/>
                <a:gd name="T12" fmla="*/ 215 w 1404"/>
                <a:gd name="T13" fmla="*/ 873 h 1153"/>
                <a:gd name="T14" fmla="*/ 231 w 1404"/>
                <a:gd name="T15" fmla="*/ 836 h 1153"/>
                <a:gd name="T16" fmla="*/ 273 w 1404"/>
                <a:gd name="T17" fmla="*/ 798 h 1153"/>
                <a:gd name="T18" fmla="*/ 330 w 1404"/>
                <a:gd name="T19" fmla="*/ 774 h 1153"/>
                <a:gd name="T20" fmla="*/ 400 w 1404"/>
                <a:gd name="T21" fmla="*/ 748 h 1153"/>
                <a:gd name="T22" fmla="*/ 1110 w 1404"/>
                <a:gd name="T23" fmla="*/ 499 h 1153"/>
                <a:gd name="T24" fmla="*/ 1207 w 1404"/>
                <a:gd name="T25" fmla="*/ 451 h 1153"/>
                <a:gd name="T26" fmla="*/ 1289 w 1404"/>
                <a:gd name="T27" fmla="*/ 398 h 1153"/>
                <a:gd name="T28" fmla="*/ 1344 w 1404"/>
                <a:gd name="T29" fmla="*/ 356 h 1153"/>
                <a:gd name="T30" fmla="*/ 1381 w 1404"/>
                <a:gd name="T31" fmla="*/ 310 h 1153"/>
                <a:gd name="T32" fmla="*/ 1403 w 1404"/>
                <a:gd name="T33" fmla="*/ 249 h 1153"/>
                <a:gd name="T34" fmla="*/ 1401 w 1404"/>
                <a:gd name="T35" fmla="*/ 185 h 1153"/>
                <a:gd name="T36" fmla="*/ 1386 w 1404"/>
                <a:gd name="T37" fmla="*/ 136 h 1153"/>
                <a:gd name="T38" fmla="*/ 1370 w 1404"/>
                <a:gd name="T39" fmla="*/ 90 h 1153"/>
                <a:gd name="T40" fmla="*/ 1335 w 1404"/>
                <a:gd name="T41" fmla="*/ 55 h 1153"/>
                <a:gd name="T42" fmla="*/ 1280 w 1404"/>
                <a:gd name="T43" fmla="*/ 18 h 1153"/>
                <a:gd name="T44" fmla="*/ 1214 w 1404"/>
                <a:gd name="T45" fmla="*/ 0 h 1153"/>
                <a:gd name="T46" fmla="*/ 1172 w 1404"/>
                <a:gd name="T47" fmla="*/ 4 h 1153"/>
                <a:gd name="T48" fmla="*/ 1111 w 1404"/>
                <a:gd name="T49" fmla="*/ 7 h 1153"/>
                <a:gd name="T50" fmla="*/ 1053 w 1404"/>
                <a:gd name="T51" fmla="*/ 20 h 1153"/>
                <a:gd name="T52" fmla="*/ 989 w 1404"/>
                <a:gd name="T53" fmla="*/ 46 h 1153"/>
                <a:gd name="T54" fmla="*/ 939 w 1404"/>
                <a:gd name="T55" fmla="*/ 79 h 1153"/>
                <a:gd name="T56" fmla="*/ 899 w 1404"/>
                <a:gd name="T57" fmla="*/ 106 h 1153"/>
                <a:gd name="T58" fmla="*/ 878 w 1404"/>
                <a:gd name="T59" fmla="*/ 149 h 1153"/>
                <a:gd name="T60" fmla="*/ 897 w 1404"/>
                <a:gd name="T61" fmla="*/ 187 h 1153"/>
                <a:gd name="T62" fmla="*/ 939 w 1404"/>
                <a:gd name="T63" fmla="*/ 183 h 1153"/>
                <a:gd name="T64" fmla="*/ 987 w 1404"/>
                <a:gd name="T65" fmla="*/ 171 h 1153"/>
                <a:gd name="T66" fmla="*/ 1033 w 1404"/>
                <a:gd name="T67" fmla="*/ 158 h 1153"/>
                <a:gd name="T68" fmla="*/ 1069 w 1404"/>
                <a:gd name="T69" fmla="*/ 150 h 1153"/>
                <a:gd name="T70" fmla="*/ 1111 w 1404"/>
                <a:gd name="T71" fmla="*/ 150 h 1153"/>
                <a:gd name="T72" fmla="*/ 1154 w 1404"/>
                <a:gd name="T73" fmla="*/ 163 h 1153"/>
                <a:gd name="T74" fmla="*/ 1183 w 1404"/>
                <a:gd name="T75" fmla="*/ 204 h 1153"/>
                <a:gd name="T76" fmla="*/ 1179 w 1404"/>
                <a:gd name="T77" fmla="*/ 248 h 1153"/>
                <a:gd name="T78" fmla="*/ 1157 w 1404"/>
                <a:gd name="T79" fmla="*/ 286 h 1153"/>
                <a:gd name="T80" fmla="*/ 1121 w 1404"/>
                <a:gd name="T81" fmla="*/ 323 h 1153"/>
                <a:gd name="T82" fmla="*/ 1047 w 1404"/>
                <a:gd name="T83" fmla="*/ 361 h 1153"/>
                <a:gd name="T84" fmla="*/ 908 w 1404"/>
                <a:gd name="T85" fmla="*/ 415 h 1153"/>
                <a:gd name="T86" fmla="*/ 194 w 1404"/>
                <a:gd name="T87" fmla="*/ 675 h 1153"/>
                <a:gd name="T88" fmla="*/ 123 w 1404"/>
                <a:gd name="T89" fmla="*/ 715 h 1153"/>
                <a:gd name="T90" fmla="*/ 68 w 1404"/>
                <a:gd name="T91" fmla="*/ 763 h 1153"/>
                <a:gd name="T92" fmla="*/ 29 w 1404"/>
                <a:gd name="T93" fmla="*/ 809 h 1153"/>
                <a:gd name="T94" fmla="*/ 6 w 1404"/>
                <a:gd name="T95" fmla="*/ 858 h 1153"/>
                <a:gd name="T96" fmla="*/ 0 w 1404"/>
                <a:gd name="T97" fmla="*/ 912 h 1153"/>
                <a:gd name="T98" fmla="*/ 8 w 1404"/>
                <a:gd name="T99" fmla="*/ 952 h 1153"/>
                <a:gd name="T100" fmla="*/ 22 w 1404"/>
                <a:gd name="T101" fmla="*/ 992 h 1153"/>
                <a:gd name="T102" fmla="*/ 59 w 1404"/>
                <a:gd name="T103" fmla="*/ 1036 h 1153"/>
                <a:gd name="T104" fmla="*/ 127 w 1404"/>
                <a:gd name="T105" fmla="*/ 1095 h 1153"/>
                <a:gd name="T106" fmla="*/ 198 w 1404"/>
                <a:gd name="T107" fmla="*/ 1135 h 1153"/>
                <a:gd name="T108" fmla="*/ 273 w 1404"/>
                <a:gd name="T109" fmla="*/ 1152 h 1153"/>
                <a:gd name="T110" fmla="*/ 466 w 1404"/>
                <a:gd name="T111" fmla="*/ 1084 h 1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04" h="1153">
                  <a:moveTo>
                    <a:pt x="466" y="1084"/>
                  </a:moveTo>
                  <a:lnTo>
                    <a:pt x="370" y="1066"/>
                  </a:lnTo>
                  <a:lnTo>
                    <a:pt x="299" y="1035"/>
                  </a:lnTo>
                  <a:lnTo>
                    <a:pt x="257" y="1002"/>
                  </a:lnTo>
                  <a:lnTo>
                    <a:pt x="220" y="956"/>
                  </a:lnTo>
                  <a:lnTo>
                    <a:pt x="209" y="914"/>
                  </a:lnTo>
                  <a:lnTo>
                    <a:pt x="215" y="873"/>
                  </a:lnTo>
                  <a:lnTo>
                    <a:pt x="231" y="836"/>
                  </a:lnTo>
                  <a:lnTo>
                    <a:pt x="273" y="798"/>
                  </a:lnTo>
                  <a:lnTo>
                    <a:pt x="330" y="774"/>
                  </a:lnTo>
                  <a:lnTo>
                    <a:pt x="400" y="748"/>
                  </a:lnTo>
                  <a:lnTo>
                    <a:pt x="1110" y="499"/>
                  </a:lnTo>
                  <a:lnTo>
                    <a:pt x="1207" y="451"/>
                  </a:lnTo>
                  <a:lnTo>
                    <a:pt x="1289" y="398"/>
                  </a:lnTo>
                  <a:lnTo>
                    <a:pt x="1344" y="356"/>
                  </a:lnTo>
                  <a:lnTo>
                    <a:pt x="1381" y="310"/>
                  </a:lnTo>
                  <a:lnTo>
                    <a:pt x="1403" y="249"/>
                  </a:lnTo>
                  <a:lnTo>
                    <a:pt x="1401" y="185"/>
                  </a:lnTo>
                  <a:lnTo>
                    <a:pt x="1386" y="136"/>
                  </a:lnTo>
                  <a:lnTo>
                    <a:pt x="1370" y="90"/>
                  </a:lnTo>
                  <a:lnTo>
                    <a:pt x="1335" y="55"/>
                  </a:lnTo>
                  <a:lnTo>
                    <a:pt x="1280" y="18"/>
                  </a:lnTo>
                  <a:lnTo>
                    <a:pt x="1214" y="0"/>
                  </a:lnTo>
                  <a:lnTo>
                    <a:pt x="1172" y="4"/>
                  </a:lnTo>
                  <a:lnTo>
                    <a:pt x="1111" y="7"/>
                  </a:lnTo>
                  <a:lnTo>
                    <a:pt x="1053" y="20"/>
                  </a:lnTo>
                  <a:lnTo>
                    <a:pt x="989" y="46"/>
                  </a:lnTo>
                  <a:lnTo>
                    <a:pt x="939" y="79"/>
                  </a:lnTo>
                  <a:lnTo>
                    <a:pt x="899" y="106"/>
                  </a:lnTo>
                  <a:lnTo>
                    <a:pt x="878" y="149"/>
                  </a:lnTo>
                  <a:lnTo>
                    <a:pt x="897" y="187"/>
                  </a:lnTo>
                  <a:lnTo>
                    <a:pt x="939" y="183"/>
                  </a:lnTo>
                  <a:lnTo>
                    <a:pt x="987" y="171"/>
                  </a:lnTo>
                  <a:lnTo>
                    <a:pt x="1033" y="158"/>
                  </a:lnTo>
                  <a:lnTo>
                    <a:pt x="1069" y="150"/>
                  </a:lnTo>
                  <a:lnTo>
                    <a:pt x="1111" y="150"/>
                  </a:lnTo>
                  <a:lnTo>
                    <a:pt x="1154" y="163"/>
                  </a:lnTo>
                  <a:lnTo>
                    <a:pt x="1183" y="204"/>
                  </a:lnTo>
                  <a:lnTo>
                    <a:pt x="1179" y="248"/>
                  </a:lnTo>
                  <a:lnTo>
                    <a:pt x="1157" y="286"/>
                  </a:lnTo>
                  <a:lnTo>
                    <a:pt x="1121" y="323"/>
                  </a:lnTo>
                  <a:lnTo>
                    <a:pt x="1047" y="361"/>
                  </a:lnTo>
                  <a:lnTo>
                    <a:pt x="908" y="415"/>
                  </a:lnTo>
                  <a:lnTo>
                    <a:pt x="194" y="675"/>
                  </a:lnTo>
                  <a:lnTo>
                    <a:pt x="123" y="715"/>
                  </a:lnTo>
                  <a:lnTo>
                    <a:pt x="68" y="763"/>
                  </a:lnTo>
                  <a:lnTo>
                    <a:pt x="29" y="809"/>
                  </a:lnTo>
                  <a:lnTo>
                    <a:pt x="6" y="858"/>
                  </a:lnTo>
                  <a:lnTo>
                    <a:pt x="0" y="912"/>
                  </a:lnTo>
                  <a:lnTo>
                    <a:pt x="8" y="952"/>
                  </a:lnTo>
                  <a:lnTo>
                    <a:pt x="22" y="992"/>
                  </a:lnTo>
                  <a:lnTo>
                    <a:pt x="59" y="1036"/>
                  </a:lnTo>
                  <a:lnTo>
                    <a:pt x="127" y="1095"/>
                  </a:lnTo>
                  <a:lnTo>
                    <a:pt x="198" y="1135"/>
                  </a:lnTo>
                  <a:lnTo>
                    <a:pt x="273" y="1152"/>
                  </a:lnTo>
                  <a:lnTo>
                    <a:pt x="466" y="108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2"/>
            <p:cNvSpPr>
              <a:spLocks/>
            </p:cNvSpPr>
            <p:nvPr/>
          </p:nvSpPr>
          <p:spPr bwMode="auto">
            <a:xfrm>
              <a:off x="2711" y="3280"/>
              <a:ext cx="368" cy="422"/>
            </a:xfrm>
            <a:custGeom>
              <a:avLst/>
              <a:gdLst>
                <a:gd name="T0" fmla="*/ 367 w 368"/>
                <a:gd name="T1" fmla="*/ 421 h 422"/>
                <a:gd name="T2" fmla="*/ 171 w 368"/>
                <a:gd name="T3" fmla="*/ 340 h 422"/>
                <a:gd name="T4" fmla="*/ 117 w 368"/>
                <a:gd name="T5" fmla="*/ 304 h 422"/>
                <a:gd name="T6" fmla="*/ 73 w 368"/>
                <a:gd name="T7" fmla="*/ 265 h 422"/>
                <a:gd name="T8" fmla="*/ 31 w 368"/>
                <a:gd name="T9" fmla="*/ 219 h 422"/>
                <a:gd name="T10" fmla="*/ 9 w 368"/>
                <a:gd name="T11" fmla="*/ 179 h 422"/>
                <a:gd name="T12" fmla="*/ 0 w 368"/>
                <a:gd name="T13" fmla="*/ 137 h 422"/>
                <a:gd name="T14" fmla="*/ 2 w 368"/>
                <a:gd name="T15" fmla="*/ 95 h 422"/>
                <a:gd name="T16" fmla="*/ 19 w 368"/>
                <a:gd name="T17" fmla="*/ 51 h 422"/>
                <a:gd name="T18" fmla="*/ 44 w 368"/>
                <a:gd name="T19" fmla="*/ 0 h 422"/>
                <a:gd name="T20" fmla="*/ 120 w 368"/>
                <a:gd name="T21" fmla="*/ 52 h 422"/>
                <a:gd name="T22" fmla="*/ 95 w 368"/>
                <a:gd name="T23" fmla="*/ 98 h 422"/>
                <a:gd name="T24" fmla="*/ 95 w 368"/>
                <a:gd name="T25" fmla="*/ 143 h 422"/>
                <a:gd name="T26" fmla="*/ 122 w 368"/>
                <a:gd name="T27" fmla="*/ 191 h 422"/>
                <a:gd name="T28" fmla="*/ 162 w 368"/>
                <a:gd name="T29" fmla="*/ 235 h 422"/>
                <a:gd name="T30" fmla="*/ 223 w 368"/>
                <a:gd name="T31" fmla="*/ 284 h 422"/>
                <a:gd name="T32" fmla="*/ 290 w 368"/>
                <a:gd name="T33" fmla="*/ 317 h 422"/>
                <a:gd name="T34" fmla="*/ 332 w 368"/>
                <a:gd name="T35" fmla="*/ 351 h 422"/>
                <a:gd name="T36" fmla="*/ 351 w 368"/>
                <a:gd name="T37" fmla="*/ 378 h 422"/>
                <a:gd name="T38" fmla="*/ 367 w 368"/>
                <a:gd name="T39" fmla="*/ 421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8" h="422">
                  <a:moveTo>
                    <a:pt x="367" y="421"/>
                  </a:moveTo>
                  <a:lnTo>
                    <a:pt x="171" y="340"/>
                  </a:lnTo>
                  <a:lnTo>
                    <a:pt x="117" y="304"/>
                  </a:lnTo>
                  <a:lnTo>
                    <a:pt x="73" y="265"/>
                  </a:lnTo>
                  <a:lnTo>
                    <a:pt x="31" y="219"/>
                  </a:lnTo>
                  <a:lnTo>
                    <a:pt x="9" y="179"/>
                  </a:lnTo>
                  <a:lnTo>
                    <a:pt x="0" y="137"/>
                  </a:lnTo>
                  <a:lnTo>
                    <a:pt x="2" y="95"/>
                  </a:lnTo>
                  <a:lnTo>
                    <a:pt x="19" y="51"/>
                  </a:lnTo>
                  <a:lnTo>
                    <a:pt x="44" y="0"/>
                  </a:lnTo>
                  <a:lnTo>
                    <a:pt x="120" y="52"/>
                  </a:lnTo>
                  <a:lnTo>
                    <a:pt x="95" y="98"/>
                  </a:lnTo>
                  <a:lnTo>
                    <a:pt x="95" y="143"/>
                  </a:lnTo>
                  <a:lnTo>
                    <a:pt x="122" y="191"/>
                  </a:lnTo>
                  <a:lnTo>
                    <a:pt x="162" y="235"/>
                  </a:lnTo>
                  <a:lnTo>
                    <a:pt x="223" y="284"/>
                  </a:lnTo>
                  <a:lnTo>
                    <a:pt x="290" y="317"/>
                  </a:lnTo>
                  <a:lnTo>
                    <a:pt x="332" y="351"/>
                  </a:lnTo>
                  <a:lnTo>
                    <a:pt x="351" y="378"/>
                  </a:lnTo>
                  <a:lnTo>
                    <a:pt x="367" y="42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3"/>
            <p:cNvSpPr>
              <a:spLocks/>
            </p:cNvSpPr>
            <p:nvPr/>
          </p:nvSpPr>
          <p:spPr bwMode="auto">
            <a:xfrm>
              <a:off x="2432" y="1792"/>
              <a:ext cx="989" cy="1439"/>
            </a:xfrm>
            <a:custGeom>
              <a:avLst/>
              <a:gdLst>
                <a:gd name="T0" fmla="*/ 525 w 989"/>
                <a:gd name="T1" fmla="*/ 1438 h 1439"/>
                <a:gd name="T2" fmla="*/ 582 w 989"/>
                <a:gd name="T3" fmla="*/ 1409 h 1439"/>
                <a:gd name="T4" fmla="*/ 647 w 989"/>
                <a:gd name="T5" fmla="*/ 1355 h 1439"/>
                <a:gd name="T6" fmla="*/ 670 w 989"/>
                <a:gd name="T7" fmla="*/ 1304 h 1439"/>
                <a:gd name="T8" fmla="*/ 686 w 989"/>
                <a:gd name="T9" fmla="*/ 1255 h 1439"/>
                <a:gd name="T10" fmla="*/ 677 w 989"/>
                <a:gd name="T11" fmla="*/ 1198 h 1439"/>
                <a:gd name="T12" fmla="*/ 637 w 989"/>
                <a:gd name="T13" fmla="*/ 1125 h 1439"/>
                <a:gd name="T14" fmla="*/ 609 w 989"/>
                <a:gd name="T15" fmla="*/ 1092 h 1439"/>
                <a:gd name="T16" fmla="*/ 569 w 989"/>
                <a:gd name="T17" fmla="*/ 1063 h 1439"/>
                <a:gd name="T18" fmla="*/ 259 w 989"/>
                <a:gd name="T19" fmla="*/ 905 h 1439"/>
                <a:gd name="T20" fmla="*/ 201 w 989"/>
                <a:gd name="T21" fmla="*/ 863 h 1439"/>
                <a:gd name="T22" fmla="*/ 177 w 989"/>
                <a:gd name="T23" fmla="*/ 843 h 1439"/>
                <a:gd name="T24" fmla="*/ 160 w 989"/>
                <a:gd name="T25" fmla="*/ 800 h 1439"/>
                <a:gd name="T26" fmla="*/ 171 w 989"/>
                <a:gd name="T27" fmla="*/ 766 h 1439"/>
                <a:gd name="T28" fmla="*/ 215 w 989"/>
                <a:gd name="T29" fmla="*/ 738 h 1439"/>
                <a:gd name="T30" fmla="*/ 294 w 989"/>
                <a:gd name="T31" fmla="*/ 709 h 1439"/>
                <a:gd name="T32" fmla="*/ 780 w 989"/>
                <a:gd name="T33" fmla="*/ 521 h 1439"/>
                <a:gd name="T34" fmla="*/ 856 w 989"/>
                <a:gd name="T35" fmla="*/ 471 h 1439"/>
                <a:gd name="T36" fmla="*/ 918 w 989"/>
                <a:gd name="T37" fmla="*/ 417 h 1439"/>
                <a:gd name="T38" fmla="*/ 953 w 989"/>
                <a:gd name="T39" fmla="*/ 379 h 1439"/>
                <a:gd name="T40" fmla="*/ 984 w 989"/>
                <a:gd name="T41" fmla="*/ 334 h 1439"/>
                <a:gd name="T42" fmla="*/ 988 w 989"/>
                <a:gd name="T43" fmla="*/ 274 h 1439"/>
                <a:gd name="T44" fmla="*/ 972 w 989"/>
                <a:gd name="T45" fmla="*/ 214 h 1439"/>
                <a:gd name="T46" fmla="*/ 953 w 989"/>
                <a:gd name="T47" fmla="*/ 167 h 1439"/>
                <a:gd name="T48" fmla="*/ 920 w 989"/>
                <a:gd name="T49" fmla="*/ 126 h 1439"/>
                <a:gd name="T50" fmla="*/ 875 w 989"/>
                <a:gd name="T51" fmla="*/ 85 h 1439"/>
                <a:gd name="T52" fmla="*/ 828 w 989"/>
                <a:gd name="T53" fmla="*/ 50 h 1439"/>
                <a:gd name="T54" fmla="*/ 803 w 989"/>
                <a:gd name="T55" fmla="*/ 29 h 1439"/>
                <a:gd name="T56" fmla="*/ 756 w 989"/>
                <a:gd name="T57" fmla="*/ 0 h 1439"/>
                <a:gd name="T58" fmla="*/ 588 w 989"/>
                <a:gd name="T59" fmla="*/ 61 h 1439"/>
                <a:gd name="T60" fmla="*/ 649 w 989"/>
                <a:gd name="T61" fmla="*/ 104 h 1439"/>
                <a:gd name="T62" fmla="*/ 694 w 989"/>
                <a:gd name="T63" fmla="*/ 145 h 1439"/>
                <a:gd name="T64" fmla="*/ 739 w 989"/>
                <a:gd name="T65" fmla="*/ 182 h 1439"/>
                <a:gd name="T66" fmla="*/ 780 w 989"/>
                <a:gd name="T67" fmla="*/ 223 h 1439"/>
                <a:gd name="T68" fmla="*/ 803 w 989"/>
                <a:gd name="T69" fmla="*/ 272 h 1439"/>
                <a:gd name="T70" fmla="*/ 787 w 989"/>
                <a:gd name="T71" fmla="*/ 323 h 1439"/>
                <a:gd name="T72" fmla="*/ 729 w 989"/>
                <a:gd name="T73" fmla="*/ 369 h 1439"/>
                <a:gd name="T74" fmla="*/ 639 w 989"/>
                <a:gd name="T75" fmla="*/ 413 h 1439"/>
                <a:gd name="T76" fmla="*/ 212 w 989"/>
                <a:gd name="T77" fmla="*/ 589 h 1439"/>
                <a:gd name="T78" fmla="*/ 160 w 989"/>
                <a:gd name="T79" fmla="*/ 608 h 1439"/>
                <a:gd name="T80" fmla="*/ 88 w 989"/>
                <a:gd name="T81" fmla="*/ 653 h 1439"/>
                <a:gd name="T82" fmla="*/ 43 w 989"/>
                <a:gd name="T83" fmla="*/ 698 h 1439"/>
                <a:gd name="T84" fmla="*/ 9 w 989"/>
                <a:gd name="T85" fmla="*/ 755 h 1439"/>
                <a:gd name="T86" fmla="*/ 0 w 989"/>
                <a:gd name="T87" fmla="*/ 820 h 1439"/>
                <a:gd name="T88" fmla="*/ 10 w 989"/>
                <a:gd name="T89" fmla="*/ 872 h 1439"/>
                <a:gd name="T90" fmla="*/ 40 w 989"/>
                <a:gd name="T91" fmla="*/ 914 h 1439"/>
                <a:gd name="T92" fmla="*/ 84 w 989"/>
                <a:gd name="T93" fmla="*/ 949 h 1439"/>
                <a:gd name="T94" fmla="*/ 159 w 989"/>
                <a:gd name="T95" fmla="*/ 999 h 1439"/>
                <a:gd name="T96" fmla="*/ 487 w 989"/>
                <a:gd name="T97" fmla="*/ 1164 h 1439"/>
                <a:gd name="T98" fmla="*/ 530 w 989"/>
                <a:gd name="T99" fmla="*/ 1197 h 1439"/>
                <a:gd name="T100" fmla="*/ 569 w 989"/>
                <a:gd name="T101" fmla="*/ 1236 h 1439"/>
                <a:gd name="T102" fmla="*/ 557 w 989"/>
                <a:gd name="T103" fmla="*/ 1292 h 1439"/>
                <a:gd name="T104" fmla="*/ 502 w 989"/>
                <a:gd name="T105" fmla="*/ 1354 h 1439"/>
                <a:gd name="T106" fmla="*/ 434 w 989"/>
                <a:gd name="T107" fmla="*/ 1394 h 1439"/>
                <a:gd name="T108" fmla="*/ 525 w 989"/>
                <a:gd name="T109" fmla="*/ 1438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89" h="1439">
                  <a:moveTo>
                    <a:pt x="525" y="1438"/>
                  </a:moveTo>
                  <a:lnTo>
                    <a:pt x="582" y="1409"/>
                  </a:lnTo>
                  <a:lnTo>
                    <a:pt x="647" y="1355"/>
                  </a:lnTo>
                  <a:lnTo>
                    <a:pt x="670" y="1304"/>
                  </a:lnTo>
                  <a:lnTo>
                    <a:pt x="686" y="1255"/>
                  </a:lnTo>
                  <a:lnTo>
                    <a:pt x="677" y="1198"/>
                  </a:lnTo>
                  <a:lnTo>
                    <a:pt x="637" y="1125"/>
                  </a:lnTo>
                  <a:lnTo>
                    <a:pt x="609" y="1092"/>
                  </a:lnTo>
                  <a:lnTo>
                    <a:pt x="569" y="1063"/>
                  </a:lnTo>
                  <a:lnTo>
                    <a:pt x="259" y="905"/>
                  </a:lnTo>
                  <a:lnTo>
                    <a:pt x="201" y="863"/>
                  </a:lnTo>
                  <a:lnTo>
                    <a:pt x="177" y="843"/>
                  </a:lnTo>
                  <a:lnTo>
                    <a:pt x="160" y="800"/>
                  </a:lnTo>
                  <a:lnTo>
                    <a:pt x="171" y="766"/>
                  </a:lnTo>
                  <a:lnTo>
                    <a:pt x="215" y="738"/>
                  </a:lnTo>
                  <a:lnTo>
                    <a:pt x="294" y="709"/>
                  </a:lnTo>
                  <a:lnTo>
                    <a:pt x="780" y="521"/>
                  </a:lnTo>
                  <a:lnTo>
                    <a:pt x="856" y="471"/>
                  </a:lnTo>
                  <a:lnTo>
                    <a:pt x="918" y="417"/>
                  </a:lnTo>
                  <a:lnTo>
                    <a:pt x="953" y="379"/>
                  </a:lnTo>
                  <a:lnTo>
                    <a:pt x="984" y="334"/>
                  </a:lnTo>
                  <a:lnTo>
                    <a:pt x="988" y="274"/>
                  </a:lnTo>
                  <a:lnTo>
                    <a:pt x="972" y="214"/>
                  </a:lnTo>
                  <a:lnTo>
                    <a:pt x="953" y="167"/>
                  </a:lnTo>
                  <a:lnTo>
                    <a:pt x="920" y="126"/>
                  </a:lnTo>
                  <a:lnTo>
                    <a:pt x="875" y="85"/>
                  </a:lnTo>
                  <a:lnTo>
                    <a:pt x="828" y="50"/>
                  </a:lnTo>
                  <a:lnTo>
                    <a:pt x="803" y="29"/>
                  </a:lnTo>
                  <a:lnTo>
                    <a:pt x="756" y="0"/>
                  </a:lnTo>
                  <a:lnTo>
                    <a:pt x="588" y="61"/>
                  </a:lnTo>
                  <a:lnTo>
                    <a:pt x="649" y="104"/>
                  </a:lnTo>
                  <a:lnTo>
                    <a:pt x="694" y="145"/>
                  </a:lnTo>
                  <a:lnTo>
                    <a:pt x="739" y="182"/>
                  </a:lnTo>
                  <a:lnTo>
                    <a:pt x="780" y="223"/>
                  </a:lnTo>
                  <a:lnTo>
                    <a:pt x="803" y="272"/>
                  </a:lnTo>
                  <a:lnTo>
                    <a:pt x="787" y="323"/>
                  </a:lnTo>
                  <a:lnTo>
                    <a:pt x="729" y="369"/>
                  </a:lnTo>
                  <a:lnTo>
                    <a:pt x="639" y="413"/>
                  </a:lnTo>
                  <a:lnTo>
                    <a:pt x="212" y="589"/>
                  </a:lnTo>
                  <a:lnTo>
                    <a:pt x="160" y="608"/>
                  </a:lnTo>
                  <a:lnTo>
                    <a:pt x="88" y="653"/>
                  </a:lnTo>
                  <a:lnTo>
                    <a:pt x="43" y="698"/>
                  </a:lnTo>
                  <a:lnTo>
                    <a:pt x="9" y="755"/>
                  </a:lnTo>
                  <a:lnTo>
                    <a:pt x="0" y="820"/>
                  </a:lnTo>
                  <a:lnTo>
                    <a:pt x="10" y="872"/>
                  </a:lnTo>
                  <a:lnTo>
                    <a:pt x="40" y="914"/>
                  </a:lnTo>
                  <a:lnTo>
                    <a:pt x="84" y="949"/>
                  </a:lnTo>
                  <a:lnTo>
                    <a:pt x="159" y="999"/>
                  </a:lnTo>
                  <a:lnTo>
                    <a:pt x="487" y="1164"/>
                  </a:lnTo>
                  <a:lnTo>
                    <a:pt x="530" y="1197"/>
                  </a:lnTo>
                  <a:lnTo>
                    <a:pt x="569" y="1236"/>
                  </a:lnTo>
                  <a:lnTo>
                    <a:pt x="557" y="1292"/>
                  </a:lnTo>
                  <a:lnTo>
                    <a:pt x="502" y="1354"/>
                  </a:lnTo>
                  <a:lnTo>
                    <a:pt x="434" y="1394"/>
                  </a:lnTo>
                  <a:lnTo>
                    <a:pt x="525" y="143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4"/>
            <p:cNvSpPr>
              <a:spLocks/>
            </p:cNvSpPr>
            <p:nvPr/>
          </p:nvSpPr>
          <p:spPr bwMode="auto">
            <a:xfrm>
              <a:off x="2100" y="1162"/>
              <a:ext cx="669" cy="582"/>
            </a:xfrm>
            <a:custGeom>
              <a:avLst/>
              <a:gdLst>
                <a:gd name="T0" fmla="*/ 668 w 669"/>
                <a:gd name="T1" fmla="*/ 553 h 582"/>
                <a:gd name="T2" fmla="*/ 668 w 669"/>
                <a:gd name="T3" fmla="*/ 450 h 582"/>
                <a:gd name="T4" fmla="*/ 562 w 669"/>
                <a:gd name="T5" fmla="*/ 435 h 582"/>
                <a:gd name="T6" fmla="*/ 448 w 669"/>
                <a:gd name="T7" fmla="*/ 420 h 582"/>
                <a:gd name="T8" fmla="*/ 367 w 669"/>
                <a:gd name="T9" fmla="*/ 400 h 582"/>
                <a:gd name="T10" fmla="*/ 314 w 669"/>
                <a:gd name="T11" fmla="*/ 378 h 582"/>
                <a:gd name="T12" fmla="*/ 257 w 669"/>
                <a:gd name="T13" fmla="*/ 349 h 582"/>
                <a:gd name="T14" fmla="*/ 220 w 669"/>
                <a:gd name="T15" fmla="*/ 314 h 582"/>
                <a:gd name="T16" fmla="*/ 193 w 669"/>
                <a:gd name="T17" fmla="*/ 274 h 582"/>
                <a:gd name="T18" fmla="*/ 180 w 669"/>
                <a:gd name="T19" fmla="*/ 231 h 582"/>
                <a:gd name="T20" fmla="*/ 180 w 669"/>
                <a:gd name="T21" fmla="*/ 189 h 582"/>
                <a:gd name="T22" fmla="*/ 193 w 669"/>
                <a:gd name="T23" fmla="*/ 165 h 582"/>
                <a:gd name="T24" fmla="*/ 209 w 669"/>
                <a:gd name="T25" fmla="*/ 143 h 582"/>
                <a:gd name="T26" fmla="*/ 255 w 669"/>
                <a:gd name="T27" fmla="*/ 127 h 582"/>
                <a:gd name="T28" fmla="*/ 297 w 669"/>
                <a:gd name="T29" fmla="*/ 127 h 582"/>
                <a:gd name="T30" fmla="*/ 345 w 669"/>
                <a:gd name="T31" fmla="*/ 141 h 582"/>
                <a:gd name="T32" fmla="*/ 396 w 669"/>
                <a:gd name="T33" fmla="*/ 156 h 582"/>
                <a:gd name="T34" fmla="*/ 448 w 669"/>
                <a:gd name="T35" fmla="*/ 163 h 582"/>
                <a:gd name="T36" fmla="*/ 477 w 669"/>
                <a:gd name="T37" fmla="*/ 125 h 582"/>
                <a:gd name="T38" fmla="*/ 464 w 669"/>
                <a:gd name="T39" fmla="*/ 86 h 582"/>
                <a:gd name="T40" fmla="*/ 415 w 669"/>
                <a:gd name="T41" fmla="*/ 42 h 582"/>
                <a:gd name="T42" fmla="*/ 363 w 669"/>
                <a:gd name="T43" fmla="*/ 18 h 582"/>
                <a:gd name="T44" fmla="*/ 319 w 669"/>
                <a:gd name="T45" fmla="*/ 7 h 582"/>
                <a:gd name="T46" fmla="*/ 273 w 669"/>
                <a:gd name="T47" fmla="*/ 2 h 582"/>
                <a:gd name="T48" fmla="*/ 222 w 669"/>
                <a:gd name="T49" fmla="*/ 0 h 582"/>
                <a:gd name="T50" fmla="*/ 176 w 669"/>
                <a:gd name="T51" fmla="*/ 4 h 582"/>
                <a:gd name="T52" fmla="*/ 136 w 669"/>
                <a:gd name="T53" fmla="*/ 15 h 582"/>
                <a:gd name="T54" fmla="*/ 86 w 669"/>
                <a:gd name="T55" fmla="*/ 33 h 582"/>
                <a:gd name="T56" fmla="*/ 50 w 669"/>
                <a:gd name="T57" fmla="*/ 66 h 582"/>
                <a:gd name="T58" fmla="*/ 22 w 669"/>
                <a:gd name="T59" fmla="*/ 99 h 582"/>
                <a:gd name="T60" fmla="*/ 6 w 669"/>
                <a:gd name="T61" fmla="*/ 145 h 582"/>
                <a:gd name="T62" fmla="*/ 0 w 669"/>
                <a:gd name="T63" fmla="*/ 189 h 582"/>
                <a:gd name="T64" fmla="*/ 9 w 669"/>
                <a:gd name="T65" fmla="*/ 237 h 582"/>
                <a:gd name="T66" fmla="*/ 22 w 669"/>
                <a:gd name="T67" fmla="*/ 285 h 582"/>
                <a:gd name="T68" fmla="*/ 50 w 669"/>
                <a:gd name="T69" fmla="*/ 330 h 582"/>
                <a:gd name="T70" fmla="*/ 81 w 669"/>
                <a:gd name="T71" fmla="*/ 375 h 582"/>
                <a:gd name="T72" fmla="*/ 125 w 669"/>
                <a:gd name="T73" fmla="*/ 419 h 582"/>
                <a:gd name="T74" fmla="*/ 169 w 669"/>
                <a:gd name="T75" fmla="*/ 457 h 582"/>
                <a:gd name="T76" fmla="*/ 217 w 669"/>
                <a:gd name="T77" fmla="*/ 488 h 582"/>
                <a:gd name="T78" fmla="*/ 266 w 669"/>
                <a:gd name="T79" fmla="*/ 514 h 582"/>
                <a:gd name="T80" fmla="*/ 310 w 669"/>
                <a:gd name="T81" fmla="*/ 534 h 582"/>
                <a:gd name="T82" fmla="*/ 369 w 669"/>
                <a:gd name="T83" fmla="*/ 549 h 582"/>
                <a:gd name="T84" fmla="*/ 437 w 669"/>
                <a:gd name="T85" fmla="*/ 568 h 582"/>
                <a:gd name="T86" fmla="*/ 516 w 669"/>
                <a:gd name="T87" fmla="*/ 581 h 582"/>
                <a:gd name="T88" fmla="*/ 595 w 669"/>
                <a:gd name="T89" fmla="*/ 577 h 582"/>
                <a:gd name="T90" fmla="*/ 668 w 669"/>
                <a:gd name="T91" fmla="*/ 553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69" h="582">
                  <a:moveTo>
                    <a:pt x="668" y="553"/>
                  </a:moveTo>
                  <a:lnTo>
                    <a:pt x="668" y="450"/>
                  </a:lnTo>
                  <a:lnTo>
                    <a:pt x="562" y="435"/>
                  </a:lnTo>
                  <a:lnTo>
                    <a:pt x="448" y="420"/>
                  </a:lnTo>
                  <a:lnTo>
                    <a:pt x="367" y="400"/>
                  </a:lnTo>
                  <a:lnTo>
                    <a:pt x="314" y="378"/>
                  </a:lnTo>
                  <a:lnTo>
                    <a:pt x="257" y="349"/>
                  </a:lnTo>
                  <a:lnTo>
                    <a:pt x="220" y="314"/>
                  </a:lnTo>
                  <a:lnTo>
                    <a:pt x="193" y="274"/>
                  </a:lnTo>
                  <a:lnTo>
                    <a:pt x="180" y="231"/>
                  </a:lnTo>
                  <a:lnTo>
                    <a:pt x="180" y="189"/>
                  </a:lnTo>
                  <a:lnTo>
                    <a:pt x="193" y="165"/>
                  </a:lnTo>
                  <a:lnTo>
                    <a:pt x="209" y="143"/>
                  </a:lnTo>
                  <a:lnTo>
                    <a:pt x="255" y="127"/>
                  </a:lnTo>
                  <a:lnTo>
                    <a:pt x="297" y="127"/>
                  </a:lnTo>
                  <a:lnTo>
                    <a:pt x="345" y="141"/>
                  </a:lnTo>
                  <a:lnTo>
                    <a:pt x="396" y="156"/>
                  </a:lnTo>
                  <a:lnTo>
                    <a:pt x="448" y="163"/>
                  </a:lnTo>
                  <a:lnTo>
                    <a:pt x="477" y="125"/>
                  </a:lnTo>
                  <a:lnTo>
                    <a:pt x="464" y="86"/>
                  </a:lnTo>
                  <a:lnTo>
                    <a:pt x="415" y="42"/>
                  </a:lnTo>
                  <a:lnTo>
                    <a:pt x="363" y="18"/>
                  </a:lnTo>
                  <a:lnTo>
                    <a:pt x="319" y="7"/>
                  </a:lnTo>
                  <a:lnTo>
                    <a:pt x="273" y="2"/>
                  </a:lnTo>
                  <a:lnTo>
                    <a:pt x="222" y="0"/>
                  </a:lnTo>
                  <a:lnTo>
                    <a:pt x="176" y="4"/>
                  </a:lnTo>
                  <a:lnTo>
                    <a:pt x="136" y="15"/>
                  </a:lnTo>
                  <a:lnTo>
                    <a:pt x="86" y="33"/>
                  </a:lnTo>
                  <a:lnTo>
                    <a:pt x="50" y="66"/>
                  </a:lnTo>
                  <a:lnTo>
                    <a:pt x="22" y="99"/>
                  </a:lnTo>
                  <a:lnTo>
                    <a:pt x="6" y="145"/>
                  </a:lnTo>
                  <a:lnTo>
                    <a:pt x="0" y="189"/>
                  </a:lnTo>
                  <a:lnTo>
                    <a:pt x="9" y="237"/>
                  </a:lnTo>
                  <a:lnTo>
                    <a:pt x="22" y="285"/>
                  </a:lnTo>
                  <a:lnTo>
                    <a:pt x="50" y="330"/>
                  </a:lnTo>
                  <a:lnTo>
                    <a:pt x="81" y="375"/>
                  </a:lnTo>
                  <a:lnTo>
                    <a:pt x="125" y="419"/>
                  </a:lnTo>
                  <a:lnTo>
                    <a:pt x="169" y="457"/>
                  </a:lnTo>
                  <a:lnTo>
                    <a:pt x="217" y="488"/>
                  </a:lnTo>
                  <a:lnTo>
                    <a:pt x="266" y="514"/>
                  </a:lnTo>
                  <a:lnTo>
                    <a:pt x="310" y="534"/>
                  </a:lnTo>
                  <a:lnTo>
                    <a:pt x="369" y="549"/>
                  </a:lnTo>
                  <a:lnTo>
                    <a:pt x="437" y="568"/>
                  </a:lnTo>
                  <a:lnTo>
                    <a:pt x="516" y="581"/>
                  </a:lnTo>
                  <a:lnTo>
                    <a:pt x="595" y="577"/>
                  </a:lnTo>
                  <a:lnTo>
                    <a:pt x="668" y="553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5"/>
            <p:cNvSpPr>
              <a:spLocks/>
            </p:cNvSpPr>
            <p:nvPr/>
          </p:nvSpPr>
          <p:spPr bwMode="auto">
            <a:xfrm>
              <a:off x="1365" y="583"/>
              <a:ext cx="1413" cy="549"/>
            </a:xfrm>
            <a:custGeom>
              <a:avLst/>
              <a:gdLst>
                <a:gd name="T0" fmla="*/ 1412 w 1413"/>
                <a:gd name="T1" fmla="*/ 548 h 549"/>
                <a:gd name="T2" fmla="*/ 1316 w 1413"/>
                <a:gd name="T3" fmla="*/ 537 h 549"/>
                <a:gd name="T4" fmla="*/ 1237 w 1413"/>
                <a:gd name="T5" fmla="*/ 524 h 549"/>
                <a:gd name="T6" fmla="*/ 1179 w 1413"/>
                <a:gd name="T7" fmla="*/ 511 h 549"/>
                <a:gd name="T8" fmla="*/ 1118 w 1413"/>
                <a:gd name="T9" fmla="*/ 499 h 549"/>
                <a:gd name="T10" fmla="*/ 1060 w 1413"/>
                <a:gd name="T11" fmla="*/ 493 h 549"/>
                <a:gd name="T12" fmla="*/ 1000 w 1413"/>
                <a:gd name="T13" fmla="*/ 495 h 549"/>
                <a:gd name="T14" fmla="*/ 939 w 1413"/>
                <a:gd name="T15" fmla="*/ 499 h 549"/>
                <a:gd name="T16" fmla="*/ 894 w 1413"/>
                <a:gd name="T17" fmla="*/ 482 h 549"/>
                <a:gd name="T18" fmla="*/ 962 w 1413"/>
                <a:gd name="T19" fmla="*/ 440 h 549"/>
                <a:gd name="T20" fmla="*/ 1005 w 1413"/>
                <a:gd name="T21" fmla="*/ 411 h 549"/>
                <a:gd name="T22" fmla="*/ 1043 w 1413"/>
                <a:gd name="T23" fmla="*/ 381 h 549"/>
                <a:gd name="T24" fmla="*/ 1069 w 1413"/>
                <a:gd name="T25" fmla="*/ 348 h 549"/>
                <a:gd name="T26" fmla="*/ 962 w 1413"/>
                <a:gd name="T27" fmla="*/ 383 h 549"/>
                <a:gd name="T28" fmla="*/ 855 w 1413"/>
                <a:gd name="T29" fmla="*/ 418 h 549"/>
                <a:gd name="T30" fmla="*/ 783 w 1413"/>
                <a:gd name="T31" fmla="*/ 436 h 549"/>
                <a:gd name="T32" fmla="*/ 670 w 1413"/>
                <a:gd name="T33" fmla="*/ 449 h 549"/>
                <a:gd name="T34" fmla="*/ 597 w 1413"/>
                <a:gd name="T35" fmla="*/ 449 h 549"/>
                <a:gd name="T36" fmla="*/ 531 w 1413"/>
                <a:gd name="T37" fmla="*/ 444 h 549"/>
                <a:gd name="T38" fmla="*/ 486 w 1413"/>
                <a:gd name="T39" fmla="*/ 427 h 549"/>
                <a:gd name="T40" fmla="*/ 459 w 1413"/>
                <a:gd name="T41" fmla="*/ 407 h 549"/>
                <a:gd name="T42" fmla="*/ 527 w 1413"/>
                <a:gd name="T43" fmla="*/ 389 h 549"/>
                <a:gd name="T44" fmla="*/ 572 w 1413"/>
                <a:gd name="T45" fmla="*/ 365 h 549"/>
                <a:gd name="T46" fmla="*/ 599 w 1413"/>
                <a:gd name="T47" fmla="*/ 339 h 549"/>
                <a:gd name="T48" fmla="*/ 634 w 1413"/>
                <a:gd name="T49" fmla="*/ 308 h 549"/>
                <a:gd name="T50" fmla="*/ 544 w 1413"/>
                <a:gd name="T51" fmla="*/ 334 h 549"/>
                <a:gd name="T52" fmla="*/ 463 w 1413"/>
                <a:gd name="T53" fmla="*/ 348 h 549"/>
                <a:gd name="T54" fmla="*/ 378 w 1413"/>
                <a:gd name="T55" fmla="*/ 356 h 549"/>
                <a:gd name="T56" fmla="*/ 303 w 1413"/>
                <a:gd name="T57" fmla="*/ 352 h 549"/>
                <a:gd name="T58" fmla="*/ 254 w 1413"/>
                <a:gd name="T59" fmla="*/ 334 h 549"/>
                <a:gd name="T60" fmla="*/ 233 w 1413"/>
                <a:gd name="T61" fmla="*/ 312 h 549"/>
                <a:gd name="T62" fmla="*/ 281 w 1413"/>
                <a:gd name="T63" fmla="*/ 291 h 549"/>
                <a:gd name="T64" fmla="*/ 313 w 1413"/>
                <a:gd name="T65" fmla="*/ 269 h 549"/>
                <a:gd name="T66" fmla="*/ 341 w 1413"/>
                <a:gd name="T67" fmla="*/ 244 h 549"/>
                <a:gd name="T68" fmla="*/ 339 w 1413"/>
                <a:gd name="T69" fmla="*/ 229 h 549"/>
                <a:gd name="T70" fmla="*/ 262 w 1413"/>
                <a:gd name="T71" fmla="*/ 246 h 549"/>
                <a:gd name="T72" fmla="*/ 179 w 1413"/>
                <a:gd name="T73" fmla="*/ 255 h 549"/>
                <a:gd name="T74" fmla="*/ 109 w 1413"/>
                <a:gd name="T75" fmla="*/ 254 h 549"/>
                <a:gd name="T76" fmla="*/ 51 w 1413"/>
                <a:gd name="T77" fmla="*/ 244 h 549"/>
                <a:gd name="T78" fmla="*/ 19 w 1413"/>
                <a:gd name="T79" fmla="*/ 229 h 549"/>
                <a:gd name="T80" fmla="*/ 0 w 1413"/>
                <a:gd name="T81" fmla="*/ 205 h 549"/>
                <a:gd name="T82" fmla="*/ 120 w 1413"/>
                <a:gd name="T83" fmla="*/ 187 h 549"/>
                <a:gd name="T84" fmla="*/ 309 w 1413"/>
                <a:gd name="T85" fmla="*/ 156 h 549"/>
                <a:gd name="T86" fmla="*/ 544 w 1413"/>
                <a:gd name="T87" fmla="*/ 119 h 549"/>
                <a:gd name="T88" fmla="*/ 742 w 1413"/>
                <a:gd name="T89" fmla="*/ 71 h 549"/>
                <a:gd name="T90" fmla="*/ 926 w 1413"/>
                <a:gd name="T91" fmla="*/ 26 h 549"/>
                <a:gd name="T92" fmla="*/ 1020 w 1413"/>
                <a:gd name="T93" fmla="*/ 9 h 549"/>
                <a:gd name="T94" fmla="*/ 1098 w 1413"/>
                <a:gd name="T95" fmla="*/ 0 h 549"/>
                <a:gd name="T96" fmla="*/ 1165 w 1413"/>
                <a:gd name="T97" fmla="*/ 2 h 549"/>
                <a:gd name="T98" fmla="*/ 1211 w 1413"/>
                <a:gd name="T99" fmla="*/ 7 h 549"/>
                <a:gd name="T100" fmla="*/ 1254 w 1413"/>
                <a:gd name="T101" fmla="*/ 27 h 549"/>
                <a:gd name="T102" fmla="*/ 1288 w 1413"/>
                <a:gd name="T103" fmla="*/ 71 h 549"/>
                <a:gd name="T104" fmla="*/ 1301 w 1413"/>
                <a:gd name="T105" fmla="*/ 117 h 549"/>
                <a:gd name="T106" fmla="*/ 1316 w 1413"/>
                <a:gd name="T107" fmla="*/ 148 h 549"/>
                <a:gd name="T108" fmla="*/ 1344 w 1413"/>
                <a:gd name="T109" fmla="*/ 159 h 549"/>
                <a:gd name="T110" fmla="*/ 1384 w 1413"/>
                <a:gd name="T111" fmla="*/ 156 h 549"/>
                <a:gd name="T112" fmla="*/ 1412 w 1413"/>
                <a:gd name="T113" fmla="*/ 145 h 549"/>
                <a:gd name="T114" fmla="*/ 1412 w 1413"/>
                <a:gd name="T115" fmla="*/ 548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13" h="549">
                  <a:moveTo>
                    <a:pt x="1412" y="548"/>
                  </a:moveTo>
                  <a:lnTo>
                    <a:pt x="1316" y="537"/>
                  </a:lnTo>
                  <a:lnTo>
                    <a:pt x="1237" y="524"/>
                  </a:lnTo>
                  <a:lnTo>
                    <a:pt x="1179" y="511"/>
                  </a:lnTo>
                  <a:lnTo>
                    <a:pt x="1118" y="499"/>
                  </a:lnTo>
                  <a:lnTo>
                    <a:pt x="1060" y="493"/>
                  </a:lnTo>
                  <a:lnTo>
                    <a:pt x="1000" y="495"/>
                  </a:lnTo>
                  <a:lnTo>
                    <a:pt x="939" y="499"/>
                  </a:lnTo>
                  <a:lnTo>
                    <a:pt x="894" y="482"/>
                  </a:lnTo>
                  <a:lnTo>
                    <a:pt x="962" y="440"/>
                  </a:lnTo>
                  <a:lnTo>
                    <a:pt x="1005" y="411"/>
                  </a:lnTo>
                  <a:lnTo>
                    <a:pt x="1043" y="381"/>
                  </a:lnTo>
                  <a:lnTo>
                    <a:pt x="1069" y="348"/>
                  </a:lnTo>
                  <a:lnTo>
                    <a:pt x="962" y="383"/>
                  </a:lnTo>
                  <a:lnTo>
                    <a:pt x="855" y="418"/>
                  </a:lnTo>
                  <a:lnTo>
                    <a:pt x="783" y="436"/>
                  </a:lnTo>
                  <a:lnTo>
                    <a:pt x="670" y="449"/>
                  </a:lnTo>
                  <a:lnTo>
                    <a:pt x="597" y="449"/>
                  </a:lnTo>
                  <a:lnTo>
                    <a:pt x="531" y="444"/>
                  </a:lnTo>
                  <a:lnTo>
                    <a:pt x="486" y="427"/>
                  </a:lnTo>
                  <a:lnTo>
                    <a:pt x="459" y="407"/>
                  </a:lnTo>
                  <a:lnTo>
                    <a:pt x="527" y="389"/>
                  </a:lnTo>
                  <a:lnTo>
                    <a:pt x="572" y="365"/>
                  </a:lnTo>
                  <a:lnTo>
                    <a:pt x="599" y="339"/>
                  </a:lnTo>
                  <a:lnTo>
                    <a:pt x="634" y="308"/>
                  </a:lnTo>
                  <a:lnTo>
                    <a:pt x="544" y="334"/>
                  </a:lnTo>
                  <a:lnTo>
                    <a:pt x="463" y="348"/>
                  </a:lnTo>
                  <a:lnTo>
                    <a:pt x="378" y="356"/>
                  </a:lnTo>
                  <a:lnTo>
                    <a:pt x="303" y="352"/>
                  </a:lnTo>
                  <a:lnTo>
                    <a:pt x="254" y="334"/>
                  </a:lnTo>
                  <a:lnTo>
                    <a:pt x="233" y="312"/>
                  </a:lnTo>
                  <a:lnTo>
                    <a:pt x="281" y="291"/>
                  </a:lnTo>
                  <a:lnTo>
                    <a:pt x="313" y="269"/>
                  </a:lnTo>
                  <a:lnTo>
                    <a:pt x="341" y="244"/>
                  </a:lnTo>
                  <a:lnTo>
                    <a:pt x="339" y="229"/>
                  </a:lnTo>
                  <a:lnTo>
                    <a:pt x="262" y="246"/>
                  </a:lnTo>
                  <a:lnTo>
                    <a:pt x="179" y="255"/>
                  </a:lnTo>
                  <a:lnTo>
                    <a:pt x="109" y="254"/>
                  </a:lnTo>
                  <a:lnTo>
                    <a:pt x="51" y="244"/>
                  </a:lnTo>
                  <a:lnTo>
                    <a:pt x="19" y="229"/>
                  </a:lnTo>
                  <a:lnTo>
                    <a:pt x="0" y="205"/>
                  </a:lnTo>
                  <a:lnTo>
                    <a:pt x="120" y="187"/>
                  </a:lnTo>
                  <a:lnTo>
                    <a:pt x="309" y="156"/>
                  </a:lnTo>
                  <a:lnTo>
                    <a:pt x="544" y="119"/>
                  </a:lnTo>
                  <a:lnTo>
                    <a:pt x="742" y="71"/>
                  </a:lnTo>
                  <a:lnTo>
                    <a:pt x="926" y="26"/>
                  </a:lnTo>
                  <a:lnTo>
                    <a:pt x="1020" y="9"/>
                  </a:lnTo>
                  <a:lnTo>
                    <a:pt x="1098" y="0"/>
                  </a:lnTo>
                  <a:lnTo>
                    <a:pt x="1165" y="2"/>
                  </a:lnTo>
                  <a:lnTo>
                    <a:pt x="1211" y="7"/>
                  </a:lnTo>
                  <a:lnTo>
                    <a:pt x="1254" y="27"/>
                  </a:lnTo>
                  <a:lnTo>
                    <a:pt x="1288" y="71"/>
                  </a:lnTo>
                  <a:lnTo>
                    <a:pt x="1301" y="117"/>
                  </a:lnTo>
                  <a:lnTo>
                    <a:pt x="1316" y="148"/>
                  </a:lnTo>
                  <a:lnTo>
                    <a:pt x="1344" y="159"/>
                  </a:lnTo>
                  <a:lnTo>
                    <a:pt x="1384" y="156"/>
                  </a:lnTo>
                  <a:lnTo>
                    <a:pt x="1412" y="145"/>
                  </a:lnTo>
                  <a:lnTo>
                    <a:pt x="1412" y="5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Oval 16"/>
            <p:cNvSpPr>
              <a:spLocks noChangeArrowheads="1"/>
            </p:cNvSpPr>
            <p:nvPr/>
          </p:nvSpPr>
          <p:spPr bwMode="auto">
            <a:xfrm>
              <a:off x="2785" y="355"/>
              <a:ext cx="187" cy="19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Freeform 17"/>
            <p:cNvSpPr>
              <a:spLocks/>
            </p:cNvSpPr>
            <p:nvPr/>
          </p:nvSpPr>
          <p:spPr bwMode="auto">
            <a:xfrm>
              <a:off x="2976" y="583"/>
              <a:ext cx="1413" cy="549"/>
            </a:xfrm>
            <a:custGeom>
              <a:avLst/>
              <a:gdLst>
                <a:gd name="T0" fmla="*/ 0 w 1413"/>
                <a:gd name="T1" fmla="*/ 548 h 549"/>
                <a:gd name="T2" fmla="*/ 96 w 1413"/>
                <a:gd name="T3" fmla="*/ 537 h 549"/>
                <a:gd name="T4" fmla="*/ 175 w 1413"/>
                <a:gd name="T5" fmla="*/ 524 h 549"/>
                <a:gd name="T6" fmla="*/ 233 w 1413"/>
                <a:gd name="T7" fmla="*/ 511 h 549"/>
                <a:gd name="T8" fmla="*/ 294 w 1413"/>
                <a:gd name="T9" fmla="*/ 499 h 549"/>
                <a:gd name="T10" fmla="*/ 352 w 1413"/>
                <a:gd name="T11" fmla="*/ 493 h 549"/>
                <a:gd name="T12" fmla="*/ 412 w 1413"/>
                <a:gd name="T13" fmla="*/ 495 h 549"/>
                <a:gd name="T14" fmla="*/ 473 w 1413"/>
                <a:gd name="T15" fmla="*/ 499 h 549"/>
                <a:gd name="T16" fmla="*/ 518 w 1413"/>
                <a:gd name="T17" fmla="*/ 482 h 549"/>
                <a:gd name="T18" fmla="*/ 450 w 1413"/>
                <a:gd name="T19" fmla="*/ 440 h 549"/>
                <a:gd name="T20" fmla="*/ 407 w 1413"/>
                <a:gd name="T21" fmla="*/ 411 h 549"/>
                <a:gd name="T22" fmla="*/ 369 w 1413"/>
                <a:gd name="T23" fmla="*/ 381 h 549"/>
                <a:gd name="T24" fmla="*/ 343 w 1413"/>
                <a:gd name="T25" fmla="*/ 348 h 549"/>
                <a:gd name="T26" fmla="*/ 450 w 1413"/>
                <a:gd name="T27" fmla="*/ 383 h 549"/>
                <a:gd name="T28" fmla="*/ 557 w 1413"/>
                <a:gd name="T29" fmla="*/ 418 h 549"/>
                <a:gd name="T30" fmla="*/ 629 w 1413"/>
                <a:gd name="T31" fmla="*/ 436 h 549"/>
                <a:gd name="T32" fmla="*/ 742 w 1413"/>
                <a:gd name="T33" fmla="*/ 449 h 549"/>
                <a:gd name="T34" fmla="*/ 815 w 1413"/>
                <a:gd name="T35" fmla="*/ 449 h 549"/>
                <a:gd name="T36" fmla="*/ 881 w 1413"/>
                <a:gd name="T37" fmla="*/ 444 h 549"/>
                <a:gd name="T38" fmla="*/ 926 w 1413"/>
                <a:gd name="T39" fmla="*/ 427 h 549"/>
                <a:gd name="T40" fmla="*/ 953 w 1413"/>
                <a:gd name="T41" fmla="*/ 407 h 549"/>
                <a:gd name="T42" fmla="*/ 885 w 1413"/>
                <a:gd name="T43" fmla="*/ 389 h 549"/>
                <a:gd name="T44" fmla="*/ 840 w 1413"/>
                <a:gd name="T45" fmla="*/ 365 h 549"/>
                <a:gd name="T46" fmla="*/ 809 w 1413"/>
                <a:gd name="T47" fmla="*/ 339 h 549"/>
                <a:gd name="T48" fmla="*/ 778 w 1413"/>
                <a:gd name="T49" fmla="*/ 308 h 549"/>
                <a:gd name="T50" fmla="*/ 868 w 1413"/>
                <a:gd name="T51" fmla="*/ 334 h 549"/>
                <a:gd name="T52" fmla="*/ 949 w 1413"/>
                <a:gd name="T53" fmla="*/ 348 h 549"/>
                <a:gd name="T54" fmla="*/ 1034 w 1413"/>
                <a:gd name="T55" fmla="*/ 356 h 549"/>
                <a:gd name="T56" fmla="*/ 1109 w 1413"/>
                <a:gd name="T57" fmla="*/ 352 h 549"/>
                <a:gd name="T58" fmla="*/ 1158 w 1413"/>
                <a:gd name="T59" fmla="*/ 334 h 549"/>
                <a:gd name="T60" fmla="*/ 1179 w 1413"/>
                <a:gd name="T61" fmla="*/ 312 h 549"/>
                <a:gd name="T62" fmla="*/ 1131 w 1413"/>
                <a:gd name="T63" fmla="*/ 291 h 549"/>
                <a:gd name="T64" fmla="*/ 1099 w 1413"/>
                <a:gd name="T65" fmla="*/ 269 h 549"/>
                <a:gd name="T66" fmla="*/ 1071 w 1413"/>
                <a:gd name="T67" fmla="*/ 244 h 549"/>
                <a:gd name="T68" fmla="*/ 1073 w 1413"/>
                <a:gd name="T69" fmla="*/ 229 h 549"/>
                <a:gd name="T70" fmla="*/ 1150 w 1413"/>
                <a:gd name="T71" fmla="*/ 246 h 549"/>
                <a:gd name="T72" fmla="*/ 1233 w 1413"/>
                <a:gd name="T73" fmla="*/ 255 h 549"/>
                <a:gd name="T74" fmla="*/ 1311 w 1413"/>
                <a:gd name="T75" fmla="*/ 253 h 549"/>
                <a:gd name="T76" fmla="*/ 1361 w 1413"/>
                <a:gd name="T77" fmla="*/ 244 h 549"/>
                <a:gd name="T78" fmla="*/ 1393 w 1413"/>
                <a:gd name="T79" fmla="*/ 229 h 549"/>
                <a:gd name="T80" fmla="*/ 1412 w 1413"/>
                <a:gd name="T81" fmla="*/ 205 h 549"/>
                <a:gd name="T82" fmla="*/ 1292 w 1413"/>
                <a:gd name="T83" fmla="*/ 187 h 549"/>
                <a:gd name="T84" fmla="*/ 1087 w 1413"/>
                <a:gd name="T85" fmla="*/ 158 h 549"/>
                <a:gd name="T86" fmla="*/ 868 w 1413"/>
                <a:gd name="T87" fmla="*/ 119 h 549"/>
                <a:gd name="T88" fmla="*/ 670 w 1413"/>
                <a:gd name="T89" fmla="*/ 71 h 549"/>
                <a:gd name="T90" fmla="*/ 486 w 1413"/>
                <a:gd name="T91" fmla="*/ 26 h 549"/>
                <a:gd name="T92" fmla="*/ 392 w 1413"/>
                <a:gd name="T93" fmla="*/ 9 h 549"/>
                <a:gd name="T94" fmla="*/ 314 w 1413"/>
                <a:gd name="T95" fmla="*/ 0 h 549"/>
                <a:gd name="T96" fmla="*/ 247 w 1413"/>
                <a:gd name="T97" fmla="*/ 2 h 549"/>
                <a:gd name="T98" fmla="*/ 201 w 1413"/>
                <a:gd name="T99" fmla="*/ 7 h 549"/>
                <a:gd name="T100" fmla="*/ 158 w 1413"/>
                <a:gd name="T101" fmla="*/ 27 h 549"/>
                <a:gd name="T102" fmla="*/ 124 w 1413"/>
                <a:gd name="T103" fmla="*/ 71 h 549"/>
                <a:gd name="T104" fmla="*/ 111 w 1413"/>
                <a:gd name="T105" fmla="*/ 117 h 549"/>
                <a:gd name="T106" fmla="*/ 96 w 1413"/>
                <a:gd name="T107" fmla="*/ 148 h 549"/>
                <a:gd name="T108" fmla="*/ 68 w 1413"/>
                <a:gd name="T109" fmla="*/ 159 h 549"/>
                <a:gd name="T110" fmla="*/ 28 w 1413"/>
                <a:gd name="T111" fmla="*/ 156 h 549"/>
                <a:gd name="T112" fmla="*/ 0 w 1413"/>
                <a:gd name="T113" fmla="*/ 145 h 549"/>
                <a:gd name="T114" fmla="*/ 0 w 1413"/>
                <a:gd name="T115" fmla="*/ 548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13" h="549">
                  <a:moveTo>
                    <a:pt x="0" y="548"/>
                  </a:moveTo>
                  <a:lnTo>
                    <a:pt x="96" y="537"/>
                  </a:lnTo>
                  <a:lnTo>
                    <a:pt x="175" y="524"/>
                  </a:lnTo>
                  <a:lnTo>
                    <a:pt x="233" y="511"/>
                  </a:lnTo>
                  <a:lnTo>
                    <a:pt x="294" y="499"/>
                  </a:lnTo>
                  <a:lnTo>
                    <a:pt x="352" y="493"/>
                  </a:lnTo>
                  <a:lnTo>
                    <a:pt x="412" y="495"/>
                  </a:lnTo>
                  <a:lnTo>
                    <a:pt x="473" y="499"/>
                  </a:lnTo>
                  <a:lnTo>
                    <a:pt x="518" y="482"/>
                  </a:lnTo>
                  <a:lnTo>
                    <a:pt x="450" y="440"/>
                  </a:lnTo>
                  <a:lnTo>
                    <a:pt x="407" y="411"/>
                  </a:lnTo>
                  <a:lnTo>
                    <a:pt x="369" y="381"/>
                  </a:lnTo>
                  <a:lnTo>
                    <a:pt x="343" y="348"/>
                  </a:lnTo>
                  <a:lnTo>
                    <a:pt x="450" y="383"/>
                  </a:lnTo>
                  <a:lnTo>
                    <a:pt x="557" y="418"/>
                  </a:lnTo>
                  <a:lnTo>
                    <a:pt x="629" y="436"/>
                  </a:lnTo>
                  <a:lnTo>
                    <a:pt x="742" y="449"/>
                  </a:lnTo>
                  <a:lnTo>
                    <a:pt x="815" y="449"/>
                  </a:lnTo>
                  <a:lnTo>
                    <a:pt x="881" y="444"/>
                  </a:lnTo>
                  <a:lnTo>
                    <a:pt x="926" y="427"/>
                  </a:lnTo>
                  <a:lnTo>
                    <a:pt x="953" y="407"/>
                  </a:lnTo>
                  <a:lnTo>
                    <a:pt x="885" y="389"/>
                  </a:lnTo>
                  <a:lnTo>
                    <a:pt x="840" y="365"/>
                  </a:lnTo>
                  <a:lnTo>
                    <a:pt x="809" y="339"/>
                  </a:lnTo>
                  <a:lnTo>
                    <a:pt x="778" y="308"/>
                  </a:lnTo>
                  <a:lnTo>
                    <a:pt x="868" y="334"/>
                  </a:lnTo>
                  <a:lnTo>
                    <a:pt x="949" y="348"/>
                  </a:lnTo>
                  <a:lnTo>
                    <a:pt x="1034" y="356"/>
                  </a:lnTo>
                  <a:lnTo>
                    <a:pt x="1109" y="352"/>
                  </a:lnTo>
                  <a:lnTo>
                    <a:pt x="1158" y="334"/>
                  </a:lnTo>
                  <a:lnTo>
                    <a:pt x="1179" y="312"/>
                  </a:lnTo>
                  <a:lnTo>
                    <a:pt x="1131" y="291"/>
                  </a:lnTo>
                  <a:lnTo>
                    <a:pt x="1099" y="269"/>
                  </a:lnTo>
                  <a:lnTo>
                    <a:pt x="1071" y="244"/>
                  </a:lnTo>
                  <a:lnTo>
                    <a:pt x="1073" y="229"/>
                  </a:lnTo>
                  <a:lnTo>
                    <a:pt x="1150" y="246"/>
                  </a:lnTo>
                  <a:lnTo>
                    <a:pt x="1233" y="255"/>
                  </a:lnTo>
                  <a:lnTo>
                    <a:pt x="1311" y="253"/>
                  </a:lnTo>
                  <a:lnTo>
                    <a:pt x="1361" y="244"/>
                  </a:lnTo>
                  <a:lnTo>
                    <a:pt x="1393" y="229"/>
                  </a:lnTo>
                  <a:lnTo>
                    <a:pt x="1412" y="205"/>
                  </a:lnTo>
                  <a:lnTo>
                    <a:pt x="1292" y="187"/>
                  </a:lnTo>
                  <a:lnTo>
                    <a:pt x="1087" y="158"/>
                  </a:lnTo>
                  <a:lnTo>
                    <a:pt x="868" y="119"/>
                  </a:lnTo>
                  <a:lnTo>
                    <a:pt x="670" y="71"/>
                  </a:lnTo>
                  <a:lnTo>
                    <a:pt x="486" y="26"/>
                  </a:lnTo>
                  <a:lnTo>
                    <a:pt x="392" y="9"/>
                  </a:lnTo>
                  <a:lnTo>
                    <a:pt x="314" y="0"/>
                  </a:lnTo>
                  <a:lnTo>
                    <a:pt x="247" y="2"/>
                  </a:lnTo>
                  <a:lnTo>
                    <a:pt x="201" y="7"/>
                  </a:lnTo>
                  <a:lnTo>
                    <a:pt x="158" y="27"/>
                  </a:lnTo>
                  <a:lnTo>
                    <a:pt x="124" y="71"/>
                  </a:lnTo>
                  <a:lnTo>
                    <a:pt x="111" y="117"/>
                  </a:lnTo>
                  <a:lnTo>
                    <a:pt x="96" y="148"/>
                  </a:lnTo>
                  <a:lnTo>
                    <a:pt x="68" y="159"/>
                  </a:lnTo>
                  <a:lnTo>
                    <a:pt x="28" y="156"/>
                  </a:lnTo>
                  <a:lnTo>
                    <a:pt x="0" y="145"/>
                  </a:lnTo>
                  <a:lnTo>
                    <a:pt x="0" y="5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56212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solidFill>
            <a:schemeClr val="accent2"/>
          </a:soli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bg2"/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bg2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bg2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bg2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bg2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bg2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bg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bg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bg2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463" y="1584001"/>
            <a:ext cx="5919537" cy="5274000"/>
          </a:xfrm>
        </p:spPr>
        <p:txBody>
          <a:bodyPr>
            <a:normAutofit/>
          </a:bodyPr>
          <a:lstStyle/>
          <a:p>
            <a:r>
              <a:rPr lang="en-US" sz="1200" dirty="0"/>
              <a:t>                                                    </a:t>
            </a:r>
            <a:endParaRPr lang="en-US" sz="2000" dirty="0"/>
          </a:p>
          <a:p>
            <a:r>
              <a:rPr lang="en-US" dirty="0"/>
              <a:t>Prepared By</a:t>
            </a:r>
          </a:p>
          <a:p>
            <a:r>
              <a:rPr lang="en-US" dirty="0"/>
              <a:t>Shaik Mezher Basha</a:t>
            </a:r>
          </a:p>
          <a:p>
            <a:endParaRPr lang="en-US" dirty="0"/>
          </a:p>
          <a:p>
            <a:r>
              <a:rPr lang="en-US" dirty="0"/>
              <a:t>Project ID : PRSQL-02</a:t>
            </a:r>
          </a:p>
          <a:p>
            <a:r>
              <a:rPr lang="en-US" dirty="0"/>
              <a:t>Team ID    : PTID-CDA-DEC-25-961</a:t>
            </a:r>
          </a:p>
          <a:p>
            <a:r>
              <a:rPr lang="en-US" dirty="0"/>
              <a:t>Domain     : Healthcare Data Analysis</a:t>
            </a:r>
          </a:p>
          <a:p>
            <a:r>
              <a:rPr lang="en-US" dirty="0"/>
              <a:t>Tool Used  : MySQL</a:t>
            </a:r>
          </a:p>
          <a:p>
            <a:endParaRPr lang="en-US" dirty="0"/>
          </a:p>
          <a:p>
            <a:r>
              <a:rPr lang="en-US" dirty="0"/>
              <a:t>Email ID   : shaikmezher@gmail.com</a:t>
            </a:r>
          </a:p>
          <a:p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548CDE-1A14-CCBF-7C55-BC74F3688993}"/>
              </a:ext>
            </a:extLst>
          </p:cNvPr>
          <p:cNvSpPr txBox="1"/>
          <p:nvPr/>
        </p:nvSpPr>
        <p:spPr>
          <a:xfrm>
            <a:off x="3729789" y="954554"/>
            <a:ext cx="4957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Real-Time Medical Database Analysis using MySQL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FF114-4F93-08FD-859E-E2377164624E}"/>
              </a:ext>
            </a:extLst>
          </p:cNvPr>
          <p:cNvSpPr txBox="1"/>
          <p:nvPr/>
        </p:nvSpPr>
        <p:spPr>
          <a:xfrm>
            <a:off x="2454442" y="308223"/>
            <a:ext cx="8053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  <a:endParaRPr lang="en-IN" sz="3600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9764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2295" y="1379621"/>
            <a:ext cx="11582400" cy="4804611"/>
          </a:xfrm>
        </p:spPr>
        <p:txBody>
          <a:bodyPr>
            <a:normAutofit fontScale="92500" lnSpcReduction="20000"/>
          </a:bodyPr>
          <a:lstStyle/>
          <a:p>
            <a:pPr marL="137160" lvl="0" indent="0">
              <a:buNone/>
            </a:pPr>
            <a:endParaRPr lang="en-US" dirty="0"/>
          </a:p>
          <a:p>
            <a:pPr lvl="0"/>
            <a:r>
              <a:rPr lang="en-US" dirty="0"/>
              <a:t>Project Title	 : Medical Data History – SQL Analysis</a:t>
            </a:r>
          </a:p>
          <a:p>
            <a:pPr lvl="0"/>
            <a:r>
              <a:rPr lang="en-US" dirty="0"/>
              <a:t>Project Type 	 : Real-Time Medical Data Analysis</a:t>
            </a:r>
          </a:p>
          <a:p>
            <a:pPr lvl="0"/>
            <a:r>
              <a:rPr lang="en-US" dirty="0"/>
              <a:t>Domain       	 : Healthcare Data</a:t>
            </a:r>
          </a:p>
          <a:p>
            <a:pPr lvl="0"/>
            <a:r>
              <a:rPr lang="en-US" dirty="0"/>
              <a:t>Database     	 : MySQL</a:t>
            </a:r>
          </a:p>
          <a:p>
            <a:pPr lvl="0"/>
            <a:r>
              <a:rPr lang="en-US" dirty="0"/>
              <a:t>Language      	 : SQL</a:t>
            </a:r>
          </a:p>
          <a:p>
            <a:pPr lvl="0"/>
            <a:endParaRPr lang="en-US" dirty="0"/>
          </a:p>
          <a:p>
            <a:pPr marL="137160" lvl="0" indent="0">
              <a:buNone/>
            </a:pPr>
            <a:r>
              <a:rPr lang="en-US" sz="43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Description</a:t>
            </a:r>
            <a:r>
              <a:rPr lang="en-US" sz="43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3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</a:p>
          <a:p>
            <a:pPr marL="137160" lvl="0" indent="0">
              <a:buNone/>
            </a:pPr>
            <a:r>
              <a:rPr lang="en-GB" dirty="0"/>
              <a:t>This project </a:t>
            </a:r>
            <a:r>
              <a:rPr lang="en-GB" dirty="0" err="1"/>
              <a:t>analyzes</a:t>
            </a:r>
            <a:r>
              <a:rPr lang="en-GB" dirty="0"/>
              <a:t> medical data using SQL to find useful information about patients, hospital admissions, and diagnoses. It uses real-world SQL queries on a healthcare database to retrieve and understand data in a simple and effective way.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4EC9AE-FBE2-541E-693D-9BE36761412E}"/>
              </a:ext>
            </a:extLst>
          </p:cNvPr>
          <p:cNvSpPr txBox="1"/>
          <p:nvPr/>
        </p:nvSpPr>
        <p:spPr>
          <a:xfrm>
            <a:off x="112295" y="368969"/>
            <a:ext cx="62243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44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 INFORMATION</a:t>
            </a:r>
          </a:p>
        </p:txBody>
      </p:sp>
    </p:spTree>
    <p:extLst>
      <p:ext uri="{BB962C8B-B14F-4D97-AF65-F5344CB8AC3E}">
        <p14:creationId xmlns:p14="http://schemas.microsoft.com/office/powerpoint/2010/main" val="43551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A32D93-F71B-19A6-E275-8F960970699B}"/>
              </a:ext>
            </a:extLst>
          </p:cNvPr>
          <p:cNvSpPr txBox="1"/>
          <p:nvPr/>
        </p:nvSpPr>
        <p:spPr>
          <a:xfrm>
            <a:off x="104274" y="769441"/>
            <a:ext cx="117909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3200" dirty="0"/>
          </a:p>
          <a:p>
            <a:r>
              <a:rPr lang="en-GB" sz="3200" dirty="0"/>
              <a:t>• To understand and work with a real-time medical database</a:t>
            </a:r>
          </a:p>
          <a:p>
            <a:r>
              <a:rPr lang="en-GB" sz="3200" dirty="0"/>
              <a:t>• To apply SQL queries for data retrieval and analysis</a:t>
            </a:r>
          </a:p>
          <a:p>
            <a:r>
              <a:rPr lang="en-GB" sz="3200" dirty="0"/>
              <a:t>• To </a:t>
            </a:r>
            <a:r>
              <a:rPr lang="en-GB" sz="3200" dirty="0" err="1"/>
              <a:t>analyze</a:t>
            </a:r>
            <a:r>
              <a:rPr lang="en-GB" sz="3200" dirty="0"/>
              <a:t> patient, admission, and diagnosis information</a:t>
            </a:r>
          </a:p>
          <a:p>
            <a:r>
              <a:rPr lang="en-GB" sz="3200" dirty="0"/>
              <a:t>• To practice joins, filtering, and aggregation in SQL</a:t>
            </a:r>
          </a:p>
          <a:p>
            <a:r>
              <a:rPr lang="en-GB" sz="3200" dirty="0"/>
              <a:t>• To gain hands-on experience with healthcare data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A2AD0E-1C8E-5DFC-BEC9-9C8BAE2B0B8B}"/>
              </a:ext>
            </a:extLst>
          </p:cNvPr>
          <p:cNvSpPr txBox="1"/>
          <p:nvPr/>
        </p:nvSpPr>
        <p:spPr>
          <a:xfrm>
            <a:off x="104274" y="0"/>
            <a:ext cx="66093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OBJECTIVES</a:t>
            </a:r>
          </a:p>
        </p:txBody>
      </p:sp>
    </p:spTree>
    <p:extLst>
      <p:ext uri="{BB962C8B-B14F-4D97-AF65-F5344CB8AC3E}">
        <p14:creationId xmlns:p14="http://schemas.microsoft.com/office/powerpoint/2010/main" val="281397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013B18-6ADD-1187-47E4-88D1237497D1}"/>
              </a:ext>
            </a:extLst>
          </p:cNvPr>
          <p:cNvSpPr txBox="1"/>
          <p:nvPr/>
        </p:nvSpPr>
        <p:spPr>
          <a:xfrm>
            <a:off x="385009" y="870920"/>
            <a:ext cx="1167865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800" dirty="0"/>
          </a:p>
          <a:p>
            <a:r>
              <a:rPr lang="en-GB" sz="2800" dirty="0"/>
              <a:t>The project uses a relational medical database consisting of</a:t>
            </a:r>
          </a:p>
          <a:p>
            <a:r>
              <a:rPr lang="en-GB" sz="2800" dirty="0"/>
              <a:t>multiple interrelated tables.</a:t>
            </a:r>
          </a:p>
          <a:p>
            <a:endParaRPr lang="en-GB" sz="2800" dirty="0"/>
          </a:p>
          <a:p>
            <a:r>
              <a:rPr lang="en-GB" sz="2800" dirty="0"/>
              <a:t>• Patients      	– Stores patient personal and medical details</a:t>
            </a:r>
          </a:p>
          <a:p>
            <a:r>
              <a:rPr lang="en-GB" sz="2800" dirty="0"/>
              <a:t>• Admissions   	 – Contains hospital admission and diagnosis data</a:t>
            </a:r>
          </a:p>
          <a:p>
            <a:r>
              <a:rPr lang="en-GB" sz="2800" dirty="0"/>
              <a:t>• Doctors       	 – Includes doctor information and specialties</a:t>
            </a:r>
          </a:p>
          <a:p>
            <a:r>
              <a:rPr lang="en-GB" sz="2800" dirty="0"/>
              <a:t>• Provinces   	 – Stores province and location details</a:t>
            </a:r>
          </a:p>
          <a:p>
            <a:endParaRPr lang="en-GB" sz="2800" dirty="0"/>
          </a:p>
          <a:p>
            <a:r>
              <a:rPr lang="en-GB" sz="2800" dirty="0"/>
              <a:t>These tables are connected using primary and foreign keys,</a:t>
            </a:r>
          </a:p>
          <a:p>
            <a:r>
              <a:rPr lang="en-GB" sz="2800" dirty="0"/>
              <a:t>forming a structured healthcare database.</a:t>
            </a:r>
          </a:p>
          <a:p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A8A2DD-A04C-8BB1-BA83-43A8E4D3569B}"/>
              </a:ext>
            </a:extLst>
          </p:cNvPr>
          <p:cNvSpPr txBox="1"/>
          <p:nvPr/>
        </p:nvSpPr>
        <p:spPr>
          <a:xfrm>
            <a:off x="385009" y="224589"/>
            <a:ext cx="5406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194988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A6BC07-40AD-B1C7-0C40-AFF5093F1B33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B054BF-E921-1909-DFB6-70027E845020}"/>
              </a:ext>
            </a:extLst>
          </p:cNvPr>
          <p:cNvSpPr txBox="1"/>
          <p:nvPr/>
        </p:nvSpPr>
        <p:spPr>
          <a:xfrm>
            <a:off x="681789" y="811399"/>
            <a:ext cx="1082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first name, last name, and gender of patients who's gender is ‘M’ </a:t>
            </a:r>
          </a:p>
          <a:p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65BF6A-63DF-2D1E-032F-F55F906230ED}"/>
              </a:ext>
            </a:extLst>
          </p:cNvPr>
          <p:cNvSpPr txBox="1"/>
          <p:nvPr/>
        </p:nvSpPr>
        <p:spPr>
          <a:xfrm>
            <a:off x="681789" y="2134833"/>
            <a:ext cx="112374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SELECT </a:t>
            </a:r>
            <a:r>
              <a:rPr lang="en-GB" sz="3200" dirty="0" err="1"/>
              <a:t>first_name</a:t>
            </a:r>
            <a:r>
              <a:rPr lang="en-GB" sz="3200" dirty="0"/>
              <a:t>, </a:t>
            </a:r>
            <a:r>
              <a:rPr lang="en-GB" sz="3200" dirty="0" err="1"/>
              <a:t>last_name</a:t>
            </a:r>
            <a:r>
              <a:rPr lang="en-GB" sz="3200" dirty="0"/>
              <a:t>, gender</a:t>
            </a:r>
          </a:p>
          <a:p>
            <a:r>
              <a:rPr lang="en-GB" sz="3200" dirty="0"/>
              <a:t>FROM patients</a:t>
            </a:r>
          </a:p>
          <a:p>
            <a:r>
              <a:rPr lang="en-GB" sz="3200" dirty="0"/>
              <a:t>WHERE gender = 'M';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648001-D0AE-CFB6-0F0F-EA20568DF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389" y="2320871"/>
            <a:ext cx="3923895" cy="453712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43AE1E5-B736-6553-38F8-64E0B582EBC2}"/>
              </a:ext>
            </a:extLst>
          </p:cNvPr>
          <p:cNvCxnSpPr/>
          <p:nvPr/>
        </p:nvCxnSpPr>
        <p:spPr>
          <a:xfrm>
            <a:off x="5702969" y="3461084"/>
            <a:ext cx="17325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30E95BE-CE05-3722-7DC3-78BF96EE00CD}"/>
              </a:ext>
            </a:extLst>
          </p:cNvPr>
          <p:cNvSpPr txBox="1"/>
          <p:nvPr/>
        </p:nvSpPr>
        <p:spPr>
          <a:xfrm>
            <a:off x="2221833" y="1611615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AD88DA-97AC-47CB-3A1E-BCD72851547A}"/>
              </a:ext>
            </a:extLst>
          </p:cNvPr>
          <p:cNvSpPr txBox="1"/>
          <p:nvPr/>
        </p:nvSpPr>
        <p:spPr>
          <a:xfrm>
            <a:off x="9272337" y="1679127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</p:spTree>
    <p:extLst>
      <p:ext uri="{BB962C8B-B14F-4D97-AF65-F5344CB8AC3E}">
        <p14:creationId xmlns:p14="http://schemas.microsoft.com/office/powerpoint/2010/main" val="242250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8D7E4-D477-A0F2-2145-26A5E7A28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DABD01-5FB3-FE39-FB09-97822BD074BF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370EC3-060E-7479-EA32-0E148D212274}"/>
              </a:ext>
            </a:extLst>
          </p:cNvPr>
          <p:cNvSpPr txBox="1"/>
          <p:nvPr/>
        </p:nvSpPr>
        <p:spPr>
          <a:xfrm>
            <a:off x="986590" y="907651"/>
            <a:ext cx="108284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first name and last name of patients who does not have allergies.</a:t>
            </a:r>
          </a:p>
          <a:p>
            <a:endParaRPr lang="en-IN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7ED650-D160-F8AF-A0FD-83AE617507D0}"/>
              </a:ext>
            </a:extLst>
          </p:cNvPr>
          <p:cNvSpPr txBox="1"/>
          <p:nvPr/>
        </p:nvSpPr>
        <p:spPr>
          <a:xfrm>
            <a:off x="513348" y="2676615"/>
            <a:ext cx="110770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allergies IS NULL;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20CEB2-D900-F038-A333-0ED6DC0A6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106" y="2248211"/>
            <a:ext cx="4940968" cy="4609789"/>
          </a:xfrm>
          <a:prstGeom prst="rect">
            <a:avLst/>
          </a:prstGeom>
        </p:spPr>
      </p:pic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27A0012A-C9B7-AA6E-0565-00BE1B19115C}"/>
              </a:ext>
            </a:extLst>
          </p:cNvPr>
          <p:cNvCxnSpPr>
            <a:cxnSpLocks/>
          </p:cNvCxnSpPr>
          <p:nvPr/>
        </p:nvCxnSpPr>
        <p:spPr>
          <a:xfrm>
            <a:off x="4973053" y="3512168"/>
            <a:ext cx="1676401" cy="83174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A86A710-FFAD-9D5F-9553-27EB6032BCB8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EDB401-D000-00ED-25B4-21170DD5264F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</p:spTree>
    <p:extLst>
      <p:ext uri="{BB962C8B-B14F-4D97-AF65-F5344CB8AC3E}">
        <p14:creationId xmlns:p14="http://schemas.microsoft.com/office/powerpoint/2010/main" val="1597021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2F7EB-1CAC-5631-EB05-16472BC4C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DFF1CF-4776-120F-8BB5-60442FF11639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192D92-3EAC-6F08-3B84-D9E2BAF46A20}"/>
              </a:ext>
            </a:extLst>
          </p:cNvPr>
          <p:cNvSpPr txBox="1"/>
          <p:nvPr/>
        </p:nvSpPr>
        <p:spPr>
          <a:xfrm>
            <a:off x="2069432" y="907652"/>
            <a:ext cx="108284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first name of patients that start with the letter ‘C’</a:t>
            </a:r>
          </a:p>
          <a:p>
            <a:endParaRPr lang="en-IN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C4EE1F-870D-C62D-EE4B-0CABACDABB2B}"/>
              </a:ext>
            </a:extLst>
          </p:cNvPr>
          <p:cNvSpPr txBox="1"/>
          <p:nvPr/>
        </p:nvSpPr>
        <p:spPr>
          <a:xfrm>
            <a:off x="753979" y="2192768"/>
            <a:ext cx="1122947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'C%';</a:t>
            </a:r>
          </a:p>
          <a:p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432AD4-F190-8CF1-F907-4BD5D0250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0863" y="2245124"/>
            <a:ext cx="3015916" cy="44845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58BDB1-DC15-D92A-358E-5EF06D59A480}"/>
              </a:ext>
            </a:extLst>
          </p:cNvPr>
          <p:cNvSpPr txBox="1"/>
          <p:nvPr/>
        </p:nvSpPr>
        <p:spPr>
          <a:xfrm>
            <a:off x="1740570" y="1530609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EC3BD-6CCA-38A9-DCBA-FE364F185F63}"/>
              </a:ext>
            </a:extLst>
          </p:cNvPr>
          <p:cNvSpPr txBox="1"/>
          <p:nvPr/>
        </p:nvSpPr>
        <p:spPr>
          <a:xfrm>
            <a:off x="9561095" y="1526449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BAE2FA-E384-2390-8BE6-7B399F771880}"/>
              </a:ext>
            </a:extLst>
          </p:cNvPr>
          <p:cNvCxnSpPr/>
          <p:nvPr/>
        </p:nvCxnSpPr>
        <p:spPr>
          <a:xfrm>
            <a:off x="6497053" y="3408947"/>
            <a:ext cx="14919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50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08BA-77AC-086B-5AFB-023D545D8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21E0B-7981-3FB7-11CA-CA84C296E21C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1E2598-E665-EA9C-05C2-11F687C382E5}"/>
              </a:ext>
            </a:extLst>
          </p:cNvPr>
          <p:cNvSpPr txBox="1"/>
          <p:nvPr/>
        </p:nvSpPr>
        <p:spPr>
          <a:xfrm>
            <a:off x="681789" y="811399"/>
            <a:ext cx="10828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first name and last name of patients that weight within the range of 100 to 120 (inclusive)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78A7B5-C9C1-2EC6-0A3F-271479E135A8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6F81A0-826A-BE61-8A2B-A3332B55639E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B78298-29C1-F23A-4379-39A07B8ADEC2}"/>
              </a:ext>
            </a:extLst>
          </p:cNvPr>
          <p:cNvSpPr txBox="1"/>
          <p:nvPr/>
        </p:nvSpPr>
        <p:spPr>
          <a:xfrm>
            <a:off x="681789" y="2607024"/>
            <a:ext cx="81493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weight BETWEEN 100 AND 120;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999930-FC48-F312-F6AE-C8A287C87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960" y="2213811"/>
            <a:ext cx="4059250" cy="434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97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1CCCE-EB5B-6563-E4AB-3B6AE0FFA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6FFE29-7A55-45A5-90CA-D825D4AF8CBB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5C2401-E10E-49F4-8401-BFD26D54D1D5}"/>
              </a:ext>
            </a:extLst>
          </p:cNvPr>
          <p:cNvSpPr txBox="1"/>
          <p:nvPr/>
        </p:nvSpPr>
        <p:spPr>
          <a:xfrm>
            <a:off x="681789" y="811399"/>
            <a:ext cx="10828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first name and last name concatenated into one column to show their full name</a:t>
            </a:r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42B0CF-ABBE-BC29-FC69-4BA7DF9B53C3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A38245-2297-F3E3-21F4-F2D00BBA9E81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DDDE49-310D-EC96-6927-6D88217926B7}"/>
              </a:ext>
            </a:extLst>
          </p:cNvPr>
          <p:cNvSpPr txBox="1"/>
          <p:nvPr/>
        </p:nvSpPr>
        <p:spPr>
          <a:xfrm>
            <a:off x="505325" y="2403992"/>
            <a:ext cx="74515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CONCAT(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 ',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full_name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81A61C-CDED-F8B3-888F-0A2170909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286" y="2471504"/>
            <a:ext cx="4347389" cy="392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120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A1158-5A25-BD1B-F9EE-4EBA0152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118334-41EB-17F4-D636-486855BB2FD6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10205-444A-0EFA-DC5C-B32041C5CF21}"/>
              </a:ext>
            </a:extLst>
          </p:cNvPr>
          <p:cNvSpPr txBox="1"/>
          <p:nvPr/>
        </p:nvSpPr>
        <p:spPr>
          <a:xfrm>
            <a:off x="681789" y="811399"/>
            <a:ext cx="1082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Show how many patients have a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birth_date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2010 as the birth year.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B65515-3EC6-D635-9D1C-6861930276BA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92F4F2-4304-99C6-6F93-45128738BCCE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763C4-A379-8E41-09CC-8F96CC17A30E}"/>
              </a:ext>
            </a:extLst>
          </p:cNvPr>
          <p:cNvSpPr txBox="1"/>
          <p:nvPr/>
        </p:nvSpPr>
        <p:spPr>
          <a:xfrm>
            <a:off x="830179" y="225475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COUNT(*)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total_patients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YEAR(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birth_date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2010;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DC9218-71B3-676F-3098-7D5397858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3774" y="2254753"/>
            <a:ext cx="2672773" cy="147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304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DEFF-8E5F-416D-B399-9C3572222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1CDA09-22CF-0FF2-CD7E-53BE01019578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F38001-4200-B5AC-24C1-CDEA4A56A6B0}"/>
              </a:ext>
            </a:extLst>
          </p:cNvPr>
          <p:cNvSpPr txBox="1"/>
          <p:nvPr/>
        </p:nvSpPr>
        <p:spPr>
          <a:xfrm>
            <a:off x="681789" y="811399"/>
            <a:ext cx="10828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the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height of the patient with the greatest height.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6B43F8-788D-C1F7-8CC0-271DFA50853A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98BA37-F364-0854-F31E-B696901ABEC1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582FF-49D3-B5C5-D7F3-1AE117F61165}"/>
              </a:ext>
            </a:extLst>
          </p:cNvPr>
          <p:cNvSpPr txBox="1"/>
          <p:nvPr/>
        </p:nvSpPr>
        <p:spPr>
          <a:xfrm>
            <a:off x="681789" y="227174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height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patientsORDER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height DESC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1;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CBF87F-F949-431D-5356-273345AC1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299" y="2476868"/>
            <a:ext cx="4085296" cy="138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89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81B70-5E50-6A7C-45F6-AB28464B7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37AAED-2535-14BE-5E46-A034D61575EF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A943F-6B8C-2E1B-7F86-7E7A02F2EC3C}"/>
              </a:ext>
            </a:extLst>
          </p:cNvPr>
          <p:cNvSpPr txBox="1"/>
          <p:nvPr/>
        </p:nvSpPr>
        <p:spPr>
          <a:xfrm>
            <a:off x="681789" y="811399"/>
            <a:ext cx="10828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all columns for patients who have one of the following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patient_ids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1,45,534,879,1000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9F483-35AF-4B31-BB25-B10CDE356751}"/>
              </a:ext>
            </a:extLst>
          </p:cNvPr>
          <p:cNvSpPr txBox="1"/>
          <p:nvPr/>
        </p:nvSpPr>
        <p:spPr>
          <a:xfrm>
            <a:off x="5542548" y="1677671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A39FFA-92D4-1D3E-9B66-3358A330E06B}"/>
              </a:ext>
            </a:extLst>
          </p:cNvPr>
          <p:cNvSpPr txBox="1"/>
          <p:nvPr/>
        </p:nvSpPr>
        <p:spPr>
          <a:xfrm>
            <a:off x="5390147" y="3836605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E19309-F3C3-2975-530A-11470587D869}"/>
              </a:ext>
            </a:extLst>
          </p:cNvPr>
          <p:cNvSpPr txBox="1"/>
          <p:nvPr/>
        </p:nvSpPr>
        <p:spPr>
          <a:xfrm>
            <a:off x="3553325" y="2220778"/>
            <a:ext cx="69382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*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FROM patients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WHERE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(1, 45, 534, 879, 1000);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9BD8C2-A48D-F49A-5831-AD837CEF2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91" y="4539917"/>
            <a:ext cx="11928415" cy="197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83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5AB85-E49E-A7E4-6780-38A29FA2D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DC3F95-7909-386D-9E9E-954E45B564F4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EA68B3-AD4F-414C-4001-8475A4D26CA8}"/>
              </a:ext>
            </a:extLst>
          </p:cNvPr>
          <p:cNvSpPr txBox="1"/>
          <p:nvPr/>
        </p:nvSpPr>
        <p:spPr>
          <a:xfrm>
            <a:off x="810126" y="932911"/>
            <a:ext cx="1082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the total number of admissions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8F79D-04CF-0962-338A-B4B282407E73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029B31-E736-EDC3-9FDE-2294E31CA482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02CC53-5867-5C79-DB9E-27C6C701CBDE}"/>
              </a:ext>
            </a:extLst>
          </p:cNvPr>
          <p:cNvSpPr txBox="1"/>
          <p:nvPr/>
        </p:nvSpPr>
        <p:spPr>
          <a:xfrm>
            <a:off x="810126" y="2321004"/>
            <a:ext cx="6705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COUNT(*)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total_admissions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admissions;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BD7037-C0BB-EABE-7302-6066B66EA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607" y="2321004"/>
            <a:ext cx="3398614" cy="168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710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3F4BA-1599-409F-46F5-365C1F22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E72DE6-DE57-59F8-5C74-D9D0CCE06C0C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9AD910-5720-DD57-A561-B787E3206CAE}"/>
              </a:ext>
            </a:extLst>
          </p:cNvPr>
          <p:cNvSpPr txBox="1"/>
          <p:nvPr/>
        </p:nvSpPr>
        <p:spPr>
          <a:xfrm>
            <a:off x="681789" y="811399"/>
            <a:ext cx="10828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all the columns from admissions where the patient was admitted and discharged on the same day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FBF0EF-D667-85A8-3282-4AE19418F18F}"/>
              </a:ext>
            </a:extLst>
          </p:cNvPr>
          <p:cNvSpPr txBox="1"/>
          <p:nvPr/>
        </p:nvSpPr>
        <p:spPr>
          <a:xfrm>
            <a:off x="5662864" y="1627520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4AF7FD-08F3-56AC-0D79-FA241ADA25CA}"/>
              </a:ext>
            </a:extLst>
          </p:cNvPr>
          <p:cNvSpPr txBox="1"/>
          <p:nvPr/>
        </p:nvSpPr>
        <p:spPr>
          <a:xfrm>
            <a:off x="5390147" y="3746740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FD5008-36D4-3BBA-F51F-52EC93E75751}"/>
              </a:ext>
            </a:extLst>
          </p:cNvPr>
          <p:cNvSpPr txBox="1"/>
          <p:nvPr/>
        </p:nvSpPr>
        <p:spPr>
          <a:xfrm>
            <a:off x="3914274" y="231779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admissions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admission_date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discharge_date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DB0CC7-86A6-8A05-8BB8-B6D65E7AD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587" y="4310234"/>
            <a:ext cx="10249634" cy="24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80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7E4F9-6FFD-5798-C48E-8971260D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2476AB-DCC0-A132-BE42-1BA0F4096D00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6E863-F7C2-0088-A5B3-6298255565B1}"/>
              </a:ext>
            </a:extLst>
          </p:cNvPr>
          <p:cNvSpPr txBox="1"/>
          <p:nvPr/>
        </p:nvSpPr>
        <p:spPr>
          <a:xfrm>
            <a:off x="681789" y="811399"/>
            <a:ext cx="1082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the total number of admissions for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579.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79A6FC-5962-30C7-7619-F4782B01F045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51AE9-8CAA-5B25-81E2-1593740C3A41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588C5-305F-C09B-F256-D53C81FE8A2E}"/>
              </a:ext>
            </a:extLst>
          </p:cNvPr>
          <p:cNvSpPr txBox="1"/>
          <p:nvPr/>
        </p:nvSpPr>
        <p:spPr>
          <a:xfrm>
            <a:off x="830179" y="211625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COUNT(*)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total_admissions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admissions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579;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BEE5C1-0238-F1BE-FE96-088D0A09B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610" y="2116253"/>
            <a:ext cx="3523211" cy="163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641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7206-A7C6-9107-38A9-5468DD20D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9043A8-802C-5424-2BFB-4B8AE9C9E9AC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58E5DB-C3F2-1449-D0BA-7B177D67EB91}"/>
              </a:ext>
            </a:extLst>
          </p:cNvPr>
          <p:cNvSpPr txBox="1"/>
          <p:nvPr/>
        </p:nvSpPr>
        <p:spPr>
          <a:xfrm>
            <a:off x="681789" y="811399"/>
            <a:ext cx="10828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cities that our patients live in, show unique cities that are in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province_id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'NS’?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618292-1C13-0372-CF9F-C5A0033BF01F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89E56F-C815-76AD-FAF3-61A8AA7BF48B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D7A856-56BE-7AF7-3CA3-1BD09CCE9807}"/>
              </a:ext>
            </a:extLst>
          </p:cNvPr>
          <p:cNvSpPr txBox="1"/>
          <p:nvPr/>
        </p:nvSpPr>
        <p:spPr>
          <a:xfrm>
            <a:off x="681789" y="225357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DISTINCT city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province_id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'NS';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1E186E-392D-BFE5-2C69-8CA7EE12F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285" y="2253577"/>
            <a:ext cx="3804925" cy="207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48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88592-E5EE-34C4-24FA-0E28E5452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A26C97-4481-97D6-78AB-58007D2484E0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A8AD5B-BDA6-1679-647C-404062E0AC2D}"/>
              </a:ext>
            </a:extLst>
          </p:cNvPr>
          <p:cNvSpPr txBox="1"/>
          <p:nvPr/>
        </p:nvSpPr>
        <p:spPr>
          <a:xfrm>
            <a:off x="681789" y="811399"/>
            <a:ext cx="10828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query to find the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last name and birth date of patients who have height more than 160 and weight more than 70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5E3B7-B18A-92A6-691D-FF097B00B34A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6E5C10-6308-9029-CE26-8198445FD518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F2DDF9-48C4-38C3-B7DF-BDE5C0D70925}"/>
              </a:ext>
            </a:extLst>
          </p:cNvPr>
          <p:cNvSpPr txBox="1"/>
          <p:nvPr/>
        </p:nvSpPr>
        <p:spPr>
          <a:xfrm>
            <a:off x="681789" y="227174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birth_date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height &gt; 160 AND weight &gt; 70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3FB730-8737-70A4-C806-A2A235F4C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716" y="2271739"/>
            <a:ext cx="4909719" cy="377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632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423D7-8F10-D46E-F37F-ED217F27C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B58CCF-D0FD-B942-A6CD-C1BF4160F60D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91CC0E-904A-0B75-20E3-58B0D4165A0C}"/>
              </a:ext>
            </a:extLst>
          </p:cNvPr>
          <p:cNvSpPr txBox="1"/>
          <p:nvPr/>
        </p:nvSpPr>
        <p:spPr>
          <a:xfrm>
            <a:off x="681789" y="811399"/>
            <a:ext cx="1082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unique birth years from patients and order them by ascending.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EBD66-E112-BB48-12F8-547CE9629240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0B4537-A7E3-9716-C6C2-D4F2EEDB0467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3C151B-F1D6-4DE2-396D-0AB724125A33}"/>
              </a:ext>
            </a:extLst>
          </p:cNvPr>
          <p:cNvSpPr txBox="1"/>
          <p:nvPr/>
        </p:nvSpPr>
        <p:spPr>
          <a:xfrm>
            <a:off x="681789" y="2185282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DISTINCT YEAR(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birth_date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birth_year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patients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 BY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birth_year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ASC;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821947-461C-56E2-7C5E-4125AA7B3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153" y="2356246"/>
            <a:ext cx="4810481" cy="290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572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39287-4EA4-7760-35E2-8E2BFA34A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040C28-7C1C-3D0F-3D0D-A2342E038723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7BF20-2C4C-902C-391B-7A47D2005DCE}"/>
              </a:ext>
            </a:extLst>
          </p:cNvPr>
          <p:cNvSpPr txBox="1"/>
          <p:nvPr/>
        </p:nvSpPr>
        <p:spPr>
          <a:xfrm>
            <a:off x="681789" y="811399"/>
            <a:ext cx="1082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unique first names from the patients table which only occurs once in the list.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FE795-40DE-51F3-508A-A79D67D29DFC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883CA3-E0BA-236F-CAF1-947F6A0BCDEE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1A66F-1C31-30B5-B064-8CCA9414F342}"/>
              </a:ext>
            </a:extLst>
          </p:cNvPr>
          <p:cNvSpPr txBox="1"/>
          <p:nvPr/>
        </p:nvSpPr>
        <p:spPr>
          <a:xfrm>
            <a:off x="1058779" y="2062253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COUNT(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92418E-FE51-DD75-0D4B-7BCF029AC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689" y="2248730"/>
            <a:ext cx="2803691" cy="41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279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3837D-A320-7C15-A37A-43B9CF8FD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7DB7C5-546C-3A7A-9D7F-FB7783962E02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A8F62-57C3-BD01-BFE1-8F7EC478ED5F}"/>
              </a:ext>
            </a:extLst>
          </p:cNvPr>
          <p:cNvSpPr txBox="1"/>
          <p:nvPr/>
        </p:nvSpPr>
        <p:spPr>
          <a:xfrm>
            <a:off x="681789" y="811399"/>
            <a:ext cx="10828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patients where their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start and ends with 's' and is at least 6 characters long</a:t>
            </a:r>
            <a:r>
              <a:rPr lang="en-US" sz="2400" dirty="0"/>
              <a:t>.</a:t>
            </a:r>
          </a:p>
          <a:p>
            <a:pPr algn="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C5B54-EF2A-1B6D-8CDD-99713BF4C3AA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E676B5-46B1-EB37-20BB-0935316CD7A6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0E41E-E681-9955-EE5B-B3A8D23EE787}"/>
              </a:ext>
            </a:extLst>
          </p:cNvPr>
          <p:cNvSpPr txBox="1"/>
          <p:nvPr/>
        </p:nvSpPr>
        <p:spPr>
          <a:xfrm>
            <a:off x="681789" y="2239288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'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s%s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LENGTH(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)&gt;=6;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75FB61-FE63-C8EF-E6F3-C225EB2FB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096" y="2380254"/>
            <a:ext cx="2772640" cy="400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839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5D8C-7602-ACE4-076A-36AF72CF5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F7478D-E912-6E62-450D-59ADDD213C3A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93A512-2171-4D15-A457-37239D63994C}"/>
              </a:ext>
            </a:extLst>
          </p:cNvPr>
          <p:cNvSpPr txBox="1"/>
          <p:nvPr/>
        </p:nvSpPr>
        <p:spPr>
          <a:xfrm>
            <a:off x="681789" y="811399"/>
            <a:ext cx="10828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Show </a:t>
            </a:r>
            <a:r>
              <a:rPr lang="en-US" sz="2400" dirty="0" err="1">
                <a:solidFill>
                  <a:srgbClr val="FF0000"/>
                </a:solidFill>
              </a:rPr>
              <a:t>patient_id</a:t>
            </a:r>
            <a:r>
              <a:rPr lang="en-US" sz="2400" dirty="0">
                <a:solidFill>
                  <a:srgbClr val="FF0000"/>
                </a:solidFill>
              </a:rPr>
              <a:t>, </a:t>
            </a:r>
            <a:r>
              <a:rPr lang="en-US" sz="2400" dirty="0" err="1">
                <a:solidFill>
                  <a:srgbClr val="FF0000"/>
                </a:solidFill>
              </a:rPr>
              <a:t>first_name</a:t>
            </a:r>
            <a:r>
              <a:rPr lang="en-US" sz="2400" dirty="0">
                <a:solidFill>
                  <a:srgbClr val="FF0000"/>
                </a:solidFill>
              </a:rPr>
              <a:t>, </a:t>
            </a:r>
            <a:r>
              <a:rPr lang="en-US" sz="2400" dirty="0" err="1">
                <a:solidFill>
                  <a:srgbClr val="FF0000"/>
                </a:solidFill>
              </a:rPr>
              <a:t>last_name</a:t>
            </a:r>
            <a:r>
              <a:rPr lang="en-US" sz="2400" dirty="0">
                <a:solidFill>
                  <a:srgbClr val="FF0000"/>
                </a:solidFill>
              </a:rPr>
              <a:t> from patients </a:t>
            </a:r>
            <a:r>
              <a:rPr lang="en-US" sz="2400" dirty="0" err="1">
                <a:solidFill>
                  <a:srgbClr val="FF0000"/>
                </a:solidFill>
              </a:rPr>
              <a:t>whos</a:t>
            </a:r>
            <a:r>
              <a:rPr lang="en-US" sz="2400" dirty="0">
                <a:solidFill>
                  <a:srgbClr val="FF0000"/>
                </a:solidFill>
              </a:rPr>
              <a:t> diagnosis is 'Dementia'.   Primary diagnosis is stored in the admissions table.</a:t>
            </a:r>
          </a:p>
          <a:p>
            <a:pPr algn="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EFD2EF-E5A9-8F96-E0FD-09A9586813B7}"/>
              </a:ext>
            </a:extLst>
          </p:cNvPr>
          <p:cNvSpPr txBox="1"/>
          <p:nvPr/>
        </p:nvSpPr>
        <p:spPr>
          <a:xfrm>
            <a:off x="1740570" y="1600588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AC0DA9-7EEF-802C-8891-8A81A379B950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447DB8-8D44-AF9F-903B-C6646F4353D8}"/>
              </a:ext>
            </a:extLst>
          </p:cNvPr>
          <p:cNvSpPr txBox="1"/>
          <p:nvPr/>
        </p:nvSpPr>
        <p:spPr>
          <a:xfrm>
            <a:off x="385011" y="2459504"/>
            <a:ext cx="76360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p.patient_id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p.first_name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p.last_name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 p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admissions a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p.patient_id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a.patient_id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a.diagnosis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'Dementia';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DDD20F-16BC-EB99-0961-953EB04AE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447" y="2567788"/>
            <a:ext cx="4225542" cy="358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80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9C5C0-FCA7-DD82-08A5-FF088A9DD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E34298-0926-7DE1-0515-6C544D7315CE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39D0A-B3C0-3B49-18CA-7D1EF214F7F8}"/>
              </a:ext>
            </a:extLst>
          </p:cNvPr>
          <p:cNvSpPr txBox="1"/>
          <p:nvPr/>
        </p:nvSpPr>
        <p:spPr>
          <a:xfrm>
            <a:off x="681789" y="811399"/>
            <a:ext cx="10828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every patient's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Order the list by the length of each name and then by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alphbetically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70ACFF-CEEE-0E4A-33D0-9DFA8D44CF35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FBA6ED-681D-A9F6-FC6F-D05B13BDD01A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21B92-792C-BBA2-241B-B336680D8D75}"/>
              </a:ext>
            </a:extLst>
          </p:cNvPr>
          <p:cNvSpPr txBox="1"/>
          <p:nvPr/>
        </p:nvSpPr>
        <p:spPr>
          <a:xfrm>
            <a:off x="802105" y="227174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length(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AA1093-756B-191D-A531-88B1CF6F3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728" y="2450738"/>
            <a:ext cx="2614862" cy="359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26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41537-0C55-BE0E-057B-3D5C280CF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FA0152-2836-885F-FC64-0BC61D79D9DD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EF792-00EB-BA37-0F50-759455429E4D}"/>
              </a:ext>
            </a:extLst>
          </p:cNvPr>
          <p:cNvSpPr txBox="1"/>
          <p:nvPr/>
        </p:nvSpPr>
        <p:spPr>
          <a:xfrm>
            <a:off x="681789" y="811399"/>
            <a:ext cx="10828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the total amount of male patients and the total amount of female patients in the patients table. Display the two results in the same row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FB5BD2-A067-63C8-7F39-A3EEE5A2E3D1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B9E772-CA8D-5AA3-D7C2-6C459CC270D4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AD176D-9681-03B3-CCEA-9C688124F83A}"/>
              </a:ext>
            </a:extLst>
          </p:cNvPr>
          <p:cNvSpPr txBox="1"/>
          <p:nvPr/>
        </p:nvSpPr>
        <p:spPr>
          <a:xfrm>
            <a:off x="681789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SUM(CASE WHEN gender = 'M' THEN 1 ELSE 0 END)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male_count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SUM(CASE WHEN gender = 'F' THEN 1 ELSE 0 END)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female_count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0542A0-2D6B-6AE4-1B46-CBF978978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6446" y="2800917"/>
            <a:ext cx="3763764" cy="110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67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B2923-C5E4-048A-B9A1-B54E8B3AB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7439B1-1552-9B7F-7678-D402F4AD2191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1595B-88D8-BA71-13CA-E902A69E9970}"/>
              </a:ext>
            </a:extLst>
          </p:cNvPr>
          <p:cNvSpPr txBox="1"/>
          <p:nvPr/>
        </p:nvSpPr>
        <p:spPr>
          <a:xfrm>
            <a:off x="681789" y="811399"/>
            <a:ext cx="10828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diagnosis from admissions. Find patients admitted multiple times for the same diagnosis. 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5316F3-D8A6-2562-673E-992DAE2F4218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22F480-AB6D-FCCB-ECF9-BF163D1D69CC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67CC5-F4BC-5389-AFE3-E358952955E6}"/>
              </a:ext>
            </a:extLst>
          </p:cNvPr>
          <p:cNvSpPr txBox="1"/>
          <p:nvPr/>
        </p:nvSpPr>
        <p:spPr>
          <a:xfrm>
            <a:off x="681789" y="2490081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diagnosis FROM admissions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diagnosis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count(*)&gt;1;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04C233-1A99-532E-5446-B7F3C3654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466" y="2522924"/>
            <a:ext cx="4177866" cy="307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416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E024F-9FD6-A13F-9633-73E47DC82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FE69B5-EFAD-F88F-3E25-119590B61498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349721-BD6D-77CD-3F39-38932A0D203B}"/>
              </a:ext>
            </a:extLst>
          </p:cNvPr>
          <p:cNvSpPr txBox="1"/>
          <p:nvPr/>
        </p:nvSpPr>
        <p:spPr>
          <a:xfrm>
            <a:off x="681789" y="811399"/>
            <a:ext cx="10828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the city and the total number of patients in the city. Order from most to least patients and then by city name ascending.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F2F2B9-3D46-352F-CB0B-2AF946800D6C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CD47E8-91A5-F5C7-BD32-79ADC41F32C2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2642E-689F-6F31-B3DB-C575510A8D93}"/>
              </a:ext>
            </a:extLst>
          </p:cNvPr>
          <p:cNvSpPr txBox="1"/>
          <p:nvPr/>
        </p:nvSpPr>
        <p:spPr>
          <a:xfrm>
            <a:off x="352927" y="2431794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city, COUNT(*)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total_patients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city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total_patients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DESC, city ASC;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4134A3-3C97-C9B4-A7F5-9D1104842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006" y="2520918"/>
            <a:ext cx="3349552" cy="296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098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A63BC-CCD7-C765-87E3-4A7C48E08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797D1D-B040-85BF-BC10-3C594F92C90B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66C6B-8AB7-2FE9-867D-152D3675DFCD}"/>
              </a:ext>
            </a:extLst>
          </p:cNvPr>
          <p:cNvSpPr txBox="1"/>
          <p:nvPr/>
        </p:nvSpPr>
        <p:spPr>
          <a:xfrm>
            <a:off x="681789" y="811399"/>
            <a:ext cx="10828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first name, last name and role of every person that is either patient or doctor.    The roles are either "Patient" or "Doctor"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D88896-A2E8-28CD-71E0-79A434BBADE1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1AEC63-7576-C890-228A-8D42C17B6625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E6F02B-F6C2-9B9C-D729-12AB3841D971}"/>
              </a:ext>
            </a:extLst>
          </p:cNvPr>
          <p:cNvSpPr txBox="1"/>
          <p:nvPr/>
        </p:nvSpPr>
        <p:spPr>
          <a:xfrm>
            <a:off x="304800" y="2229125"/>
            <a:ext cx="82777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'Patient' AS role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'Doctor' AS role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doctors;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B04C7E-54CB-BC80-2023-B5F749CC9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055" y="2229125"/>
            <a:ext cx="3775380" cy="340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979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16E9D-3E7B-DEFB-3E7B-89D805338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E28110-8E0E-5A5F-110C-A40804145354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F1A9E8-FB33-31B6-D923-9D5DF347D05F}"/>
              </a:ext>
            </a:extLst>
          </p:cNvPr>
          <p:cNvSpPr txBox="1"/>
          <p:nvPr/>
        </p:nvSpPr>
        <p:spPr>
          <a:xfrm>
            <a:off x="681789" y="811399"/>
            <a:ext cx="1082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all allergies ordered by popularity. Remove NULL values from query.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F44915-5E8A-1DFE-057B-4493B5C26657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00211F-065B-F5D0-7793-1213A78DBE1D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C9B7B5-F0F4-481A-55B5-464138DC71A8}"/>
              </a:ext>
            </a:extLst>
          </p:cNvPr>
          <p:cNvSpPr txBox="1"/>
          <p:nvPr/>
        </p:nvSpPr>
        <p:spPr>
          <a:xfrm>
            <a:off x="497304" y="2364073"/>
            <a:ext cx="73152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allergies,count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(*)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total_cases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allergies is not null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allergies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total_cases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36725D-AE93-497E-A687-5DEA7E92F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261" y="2431585"/>
            <a:ext cx="3582960" cy="409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53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448B4-A134-2F07-6F41-CA73ECD8B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1DF0EC-3139-A231-E653-F5092649A2F8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231BD-55F5-5E57-98DF-C1DB76FC29B6}"/>
              </a:ext>
            </a:extLst>
          </p:cNvPr>
          <p:cNvSpPr txBox="1"/>
          <p:nvPr/>
        </p:nvSpPr>
        <p:spPr>
          <a:xfrm>
            <a:off x="681789" y="811399"/>
            <a:ext cx="10828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all patient's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birth_date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who were born in the 1970s decade. Sort the list starting from the earliest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birth_date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AE2AC-0D82-65D2-1D28-21747190B3ED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D45340-1F86-3A89-2E9A-7F73AF7E2B2D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39F7D6-8EDD-B36E-0BE2-11FC1B494FD6}"/>
              </a:ext>
            </a:extLst>
          </p:cNvPr>
          <p:cNvSpPr txBox="1"/>
          <p:nvPr/>
        </p:nvSpPr>
        <p:spPr>
          <a:xfrm>
            <a:off x="681789" y="2459504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birth_date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birth_date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'1970-01-01' AND '1979-12-31’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birth_date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8D027F-3C3F-635D-1CD2-8C4FC7809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952" y="2459504"/>
            <a:ext cx="4601885" cy="342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16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A6BD5-B12E-0DDF-9B69-7AC831190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203BDE-1673-70B4-F2E7-A6146B6EC237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7EE7A7-2EC5-DA8E-B135-9F364DF529CE}"/>
              </a:ext>
            </a:extLst>
          </p:cNvPr>
          <p:cNvSpPr txBox="1"/>
          <p:nvPr/>
        </p:nvSpPr>
        <p:spPr>
          <a:xfrm>
            <a:off x="681789" y="811399"/>
            <a:ext cx="108284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want to display each patient's full name in a single column. Their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all upper letters must appear first, then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all lower case letters. Separate the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a comma. Order the list by the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decending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order    EX: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SMITH,jane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74395-D793-D0F4-5EB7-898163920DCA}"/>
              </a:ext>
            </a:extLst>
          </p:cNvPr>
          <p:cNvSpPr txBox="1"/>
          <p:nvPr/>
        </p:nvSpPr>
        <p:spPr>
          <a:xfrm>
            <a:off x="1628274" y="2519558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27A13-5035-06E3-AE15-F55ED8BC3F20}"/>
              </a:ext>
            </a:extLst>
          </p:cNvPr>
          <p:cNvSpPr txBox="1"/>
          <p:nvPr/>
        </p:nvSpPr>
        <p:spPr>
          <a:xfrm>
            <a:off x="8710863" y="2519557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924FC4-9BBB-AA0B-1E50-2B61B183FD1A}"/>
              </a:ext>
            </a:extLst>
          </p:cNvPr>
          <p:cNvSpPr txBox="1"/>
          <p:nvPr/>
        </p:nvSpPr>
        <p:spPr>
          <a:xfrm>
            <a:off x="802105" y="3138114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(upper(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),',’,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full_name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78E9AE-3AD6-2446-F23C-89E5D13FC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941" y="3211501"/>
            <a:ext cx="2539762" cy="295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239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F509B-A98C-31E1-EEF6-1BEA3D591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4365B1-7762-C5FC-7E4E-380CCDA526BA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882FBF-8E37-DFFB-22D9-A105A7D556E8}"/>
              </a:ext>
            </a:extLst>
          </p:cNvPr>
          <p:cNvSpPr txBox="1"/>
          <p:nvPr/>
        </p:nvSpPr>
        <p:spPr>
          <a:xfrm>
            <a:off x="681789" y="811399"/>
            <a:ext cx="10828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the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province_id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(s), sum of height; where the total sum of its patient's height is greater than or equal to 7,000.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680FE8-DDB0-971A-F9A1-2B0ADFAB699A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34D36-3AFD-8F1F-99CD-60EA684F0761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29A89-1B62-96AF-3F1D-A324622E6444}"/>
              </a:ext>
            </a:extLst>
          </p:cNvPr>
          <p:cNvSpPr txBox="1"/>
          <p:nvPr/>
        </p:nvSpPr>
        <p:spPr>
          <a:xfrm>
            <a:off x="962527" y="2266469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province_id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SUM(height)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sum_of_height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 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province_id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SUM(height) &gt;= 7000;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9EBBC0-BF1E-9609-AA89-509EAE97A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770" y="2528202"/>
            <a:ext cx="3651703" cy="255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863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603E0-0BE3-AEFC-19A2-45F8D8F6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A09097-4663-E914-2A67-DB4778E7268F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44AF4F-3EF1-F71A-3F97-800B4634C43D}"/>
              </a:ext>
            </a:extLst>
          </p:cNvPr>
          <p:cNvSpPr txBox="1"/>
          <p:nvPr/>
        </p:nvSpPr>
        <p:spPr>
          <a:xfrm>
            <a:off x="681789" y="811399"/>
            <a:ext cx="10828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the difference between the largest weight and smallest weight for patients with the last name 'Maroni’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91BD3B-1485-21D3-980F-4B2C55B76D6D}"/>
              </a:ext>
            </a:extLst>
          </p:cNvPr>
          <p:cNvSpPr txBox="1"/>
          <p:nvPr/>
        </p:nvSpPr>
        <p:spPr>
          <a:xfrm>
            <a:off x="1660359" y="153307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EB3B1D-46E2-C5DA-C71E-523DD1B71BA2}"/>
              </a:ext>
            </a:extLst>
          </p:cNvPr>
          <p:cNvSpPr txBox="1"/>
          <p:nvPr/>
        </p:nvSpPr>
        <p:spPr>
          <a:xfrm>
            <a:off x="8710863" y="1600588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6077B1-9155-8C8C-41A0-5BFEAEE0B6E2}"/>
              </a:ext>
            </a:extLst>
          </p:cNvPr>
          <p:cNvSpPr txBox="1"/>
          <p:nvPr/>
        </p:nvSpPr>
        <p:spPr>
          <a:xfrm>
            <a:off x="681789" y="253794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MAX(weight) - MIN(weight) AS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weight_difference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maroni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A755C8-36EE-3E28-1772-CAF9AC54D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847" y="2517996"/>
            <a:ext cx="3543374" cy="273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40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8AFAD-AFE3-1666-A245-96C41EF85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856E40-311A-EFF8-DCD6-0853654D1E55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1A1513-8F15-8FF9-3120-DB448FFEC9FC}"/>
              </a:ext>
            </a:extLst>
          </p:cNvPr>
          <p:cNvSpPr txBox="1"/>
          <p:nvPr/>
        </p:nvSpPr>
        <p:spPr>
          <a:xfrm>
            <a:off x="681789" y="811399"/>
            <a:ext cx="10828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all of the days of the month (1-31) and how many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admission_dates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occurred on that day. Sort by the day with most admissions to least admissions.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C565A0-F104-7960-9CFE-CB8CBDE13F9F}"/>
              </a:ext>
            </a:extLst>
          </p:cNvPr>
          <p:cNvSpPr txBox="1"/>
          <p:nvPr/>
        </p:nvSpPr>
        <p:spPr>
          <a:xfrm>
            <a:off x="1740570" y="1780895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B6A8BA-0BE3-FEC3-9BA7-DEA7C5B9B08E}"/>
              </a:ext>
            </a:extLst>
          </p:cNvPr>
          <p:cNvSpPr txBox="1"/>
          <p:nvPr/>
        </p:nvSpPr>
        <p:spPr>
          <a:xfrm>
            <a:off x="8710863" y="1780894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DCFB1-7037-B6BF-DAC2-C941E55884F7}"/>
              </a:ext>
            </a:extLst>
          </p:cNvPr>
          <p:cNvSpPr txBox="1"/>
          <p:nvPr/>
        </p:nvSpPr>
        <p:spPr>
          <a:xfrm>
            <a:off x="681789" y="2475636"/>
            <a:ext cx="6096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DAY(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admission_date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day_of_month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COUNT(*) AS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total_admissions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admissions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DAY(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admission_date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total_admissions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  <a:endParaRPr lang="en-IN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A1313B-104B-B4F8-6C1B-8351D3829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841" y="2588161"/>
            <a:ext cx="4732421" cy="319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31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C8D05-D975-F451-C36F-B74CB66F9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3DAA70-56AB-7F58-181E-4E7472B69318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3E5F74-72F2-9AB2-E6C2-2843806AC464}"/>
              </a:ext>
            </a:extLst>
          </p:cNvPr>
          <p:cNvSpPr txBox="1"/>
          <p:nvPr/>
        </p:nvSpPr>
        <p:spPr>
          <a:xfrm>
            <a:off x="681789" y="811399"/>
            <a:ext cx="108284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all of the patients grouped into weight groups. Show the total amount of patients in each weight group. Order the list by the weight group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decending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e.g. if they weight 100 to 109 they are placed in the 100 weight group, 110-119 = 110 weight group, etc.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26938-CDF4-834A-2200-DB6AAC742460}"/>
              </a:ext>
            </a:extLst>
          </p:cNvPr>
          <p:cNvSpPr txBox="1"/>
          <p:nvPr/>
        </p:nvSpPr>
        <p:spPr>
          <a:xfrm>
            <a:off x="1772653" y="2186957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0522DF-4F68-49A1-D5E7-6972AE73C2A4}"/>
              </a:ext>
            </a:extLst>
          </p:cNvPr>
          <p:cNvSpPr txBox="1"/>
          <p:nvPr/>
        </p:nvSpPr>
        <p:spPr>
          <a:xfrm>
            <a:off x="8887326" y="2150226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837274-1595-6D86-8417-D78FCC0B55C6}"/>
              </a:ext>
            </a:extLst>
          </p:cNvPr>
          <p:cNvSpPr txBox="1"/>
          <p:nvPr/>
        </p:nvSpPr>
        <p:spPr>
          <a:xfrm>
            <a:off x="681789" y="2568995"/>
            <a:ext cx="693018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(FLOOR(weight / 10) * 10) AS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weight_group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COUNT(*)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total_patients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weight_group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weight_group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833C07-7187-137F-E6E8-92058994D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278" y="3160973"/>
            <a:ext cx="3781146" cy="328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105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1B5DD-418F-1ED9-2700-8A3A3F247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97148D-B68B-BBB4-3B91-D177D8B5888B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D43A6D-E1BA-263B-CE00-1FA1BBA711B6}"/>
              </a:ext>
            </a:extLst>
          </p:cNvPr>
          <p:cNvSpPr txBox="1"/>
          <p:nvPr/>
        </p:nvSpPr>
        <p:spPr>
          <a:xfrm>
            <a:off x="681789" y="811399"/>
            <a:ext cx="108284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weight, height,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isObese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the patients table. Display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isObese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or 1. Obese is defined as weight(kg)/(height(m). Weight is in units kg. Height is in units cm.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458FFB-377A-EF6E-5E23-75A076D4628C}"/>
              </a:ext>
            </a:extLst>
          </p:cNvPr>
          <p:cNvSpPr txBox="1"/>
          <p:nvPr/>
        </p:nvSpPr>
        <p:spPr>
          <a:xfrm>
            <a:off x="1628275" y="2062253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3C122C-90EA-5BED-E0B0-2BC081898231}"/>
              </a:ext>
            </a:extLst>
          </p:cNvPr>
          <p:cNvSpPr txBox="1"/>
          <p:nvPr/>
        </p:nvSpPr>
        <p:spPr>
          <a:xfrm>
            <a:off x="8823158" y="2062253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E88AFB-A6FE-7494-85C0-E95E6327A45B}"/>
              </a:ext>
            </a:extLst>
          </p:cNvPr>
          <p:cNvSpPr txBox="1"/>
          <p:nvPr/>
        </p:nvSpPr>
        <p:spPr>
          <a:xfrm>
            <a:off x="681789" y="2452571"/>
            <a:ext cx="879107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weight,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height,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   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weight / POWER(height / 100.0, 2) &gt;= 30 THEN 1   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0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isObese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49116F-267D-75CE-3F14-E7EAC77BC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047" y="2843701"/>
            <a:ext cx="3315163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29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A1FE2-022B-8C0D-46FA-C8F42AF72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67CCAB-72C7-E44C-D1C7-87DD96C1F8B0}"/>
              </a:ext>
            </a:extLst>
          </p:cNvPr>
          <p:cNvSpPr txBox="1"/>
          <p:nvPr/>
        </p:nvSpPr>
        <p:spPr>
          <a:xfrm>
            <a:off x="2069432" y="128337"/>
            <a:ext cx="9063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DATA HISTORY – SQL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34778-EA35-4F1D-26F2-727BBBD015C6}"/>
              </a:ext>
            </a:extLst>
          </p:cNvPr>
          <p:cNvSpPr txBox="1"/>
          <p:nvPr/>
        </p:nvSpPr>
        <p:spPr>
          <a:xfrm>
            <a:off x="681789" y="811399"/>
            <a:ext cx="108284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attending doctor's specialty. Show only the patients who has a diagnosis as 'Epilepsy' and the doctor's first name is 'Lisa'. Check patients, admissions, and doctors tables for required information.</a:t>
            </a:r>
          </a:p>
          <a:p>
            <a:pPr algn="ctr"/>
            <a:endParaRPr lang="en-IN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EF4E25-B7F8-89F1-D3EA-E88A189AA9C9}"/>
              </a:ext>
            </a:extLst>
          </p:cNvPr>
          <p:cNvSpPr txBox="1"/>
          <p:nvPr/>
        </p:nvSpPr>
        <p:spPr>
          <a:xfrm>
            <a:off x="1467853" y="2150226"/>
            <a:ext cx="348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FBF257-5D6F-3C3B-1A45-D1185890B8E0}"/>
              </a:ext>
            </a:extLst>
          </p:cNvPr>
          <p:cNvSpPr txBox="1"/>
          <p:nvPr/>
        </p:nvSpPr>
        <p:spPr>
          <a:xfrm>
            <a:off x="8710863" y="2150226"/>
            <a:ext cx="242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 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5BBC54-F5B3-3BC6-FA0B-E840AA8FF4F1}"/>
              </a:ext>
            </a:extLst>
          </p:cNvPr>
          <p:cNvSpPr txBox="1"/>
          <p:nvPr/>
        </p:nvSpPr>
        <p:spPr>
          <a:xfrm>
            <a:off x="681789" y="2611891"/>
            <a:ext cx="808522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p.patient_id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p.first_name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p.last_name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d.specialty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patients p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admissions a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p.patient_id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a.patient_id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doctors d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a.attending_doctor_id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d.doctor_id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a.diagnosis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'Epilepsy'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d.first_name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'Lisa';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5E864E-DF3D-0D5B-E516-1758589F1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326" y="2921950"/>
            <a:ext cx="5382376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271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59271-303E-B1A1-22B6-E31C0C972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A62332-DD05-CCAD-8FC1-A10E3AD5F513}"/>
              </a:ext>
            </a:extLst>
          </p:cNvPr>
          <p:cNvSpPr txBox="1"/>
          <p:nvPr/>
        </p:nvSpPr>
        <p:spPr>
          <a:xfrm>
            <a:off x="288758" y="176463"/>
            <a:ext cx="12464716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  <a:p>
            <a:endParaRPr lang="en-GB" sz="6000" dirty="0"/>
          </a:p>
          <a:p>
            <a:r>
              <a:rPr lang="en-GB" sz="2000" dirty="0"/>
              <a:t>All required SQL queries were successfully executed,</a:t>
            </a:r>
            <a:br>
              <a:rPr lang="en-GB" sz="2000" dirty="0"/>
            </a:br>
            <a:r>
              <a:rPr lang="en-GB" sz="2000" dirty="0"/>
              <a:t>and the medical dataset was </a:t>
            </a:r>
            <a:r>
              <a:rPr lang="en-GB" sz="2000" dirty="0" err="1"/>
              <a:t>analyzed</a:t>
            </a:r>
            <a:r>
              <a:rPr lang="en-GB" sz="2000" dirty="0"/>
              <a:t> to derive accurate, meaningful insights.</a:t>
            </a:r>
          </a:p>
          <a:p>
            <a:r>
              <a:rPr lang="en-GB" sz="2000" dirty="0"/>
              <a:t>This project demonstrates the real-world application of SQL</a:t>
            </a:r>
            <a:br>
              <a:rPr lang="en-GB" sz="2000" dirty="0"/>
            </a:br>
            <a:r>
              <a:rPr lang="en-GB" sz="2000" dirty="0"/>
              <a:t>in healthcare data analysis, focusing on data integrity, querying efficiency,</a:t>
            </a:r>
            <a:br>
              <a:rPr lang="en-GB" sz="2000" dirty="0"/>
            </a:br>
            <a:r>
              <a:rPr lang="en-GB" sz="2000" dirty="0"/>
              <a:t>and insight-driven decision making.</a:t>
            </a:r>
          </a:p>
          <a:p>
            <a:r>
              <a:rPr lang="en-GB" sz="2000" dirty="0"/>
              <a:t>Thank you for your time and attention.</a:t>
            </a:r>
          </a:p>
          <a:p>
            <a:endParaRPr lang="en-GB" sz="2000" dirty="0"/>
          </a:p>
          <a:p>
            <a:endParaRPr lang="en-GB" sz="2000" dirty="0"/>
          </a:p>
          <a:p>
            <a:r>
              <a:rPr lang="en-GB" sz="3600" b="1" dirty="0"/>
              <a:t>Shaik Mezher Basha</a:t>
            </a:r>
            <a:br>
              <a:rPr lang="en-GB" sz="3600" dirty="0"/>
            </a:br>
            <a:r>
              <a:rPr lang="en-GB" sz="3600" i="1" dirty="0"/>
              <a:t>Medical Data Analysis Using SQL</a:t>
            </a:r>
            <a:endParaRPr lang="en-GB" sz="3600" dirty="0"/>
          </a:p>
          <a:p>
            <a:pPr algn="ctr">
              <a:buNone/>
            </a:pP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560448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cal design templat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dical design template" id="{BE883315-6697-4975-AEB2-5905098383C4}" vid="{D3CC9EF4-996F-4232-B765-B82F773B794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856783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2012-09-20T10:48:20+00:00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1622871</Value>
    </PublishStatusLookup>
    <APAuthor xmlns="4873beb7-5857-4685-be1f-d57550cc96cc">
      <UserInfo>
        <DisplayName>REDMOND\v-luannv</DisplayName>
        <AccountId>92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 xsi:nil="true"/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false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TP103460417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100AC149-8447-4BE5-88C7-DBE24EA73E8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EEAAAD-F811-4325-83A2-D14EDE05FB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0D1C9B0-FE26-433B-8E1A-54CCDFA4EB1D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686</TotalTime>
  <Words>2159</Words>
  <Application>Microsoft Office PowerPoint</Application>
  <PresentationFormat>Widescreen</PresentationFormat>
  <Paragraphs>310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Calibri</vt:lpstr>
      <vt:lpstr>Times New Roman</vt:lpstr>
      <vt:lpstr>Wingdings</vt:lpstr>
      <vt:lpstr>Wingdings 2</vt:lpstr>
      <vt:lpstr>Wingdings 3</vt:lpstr>
      <vt:lpstr>Medical design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Mezher Basha</dc:creator>
  <cp:lastModifiedBy>Mezher Basha</cp:lastModifiedBy>
  <cp:revision>1</cp:revision>
  <dcterms:created xsi:type="dcterms:W3CDTF">2026-01-04T18:35:56Z</dcterms:created>
  <dcterms:modified xsi:type="dcterms:W3CDTF">2026-01-05T06:02:30Z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Order">
    <vt:r8>74064500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